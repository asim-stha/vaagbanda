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84" r:id="rId5"/>
    <p:sldId id="287" r:id="rId6"/>
    <p:sldId id="283" r:id="rId7"/>
    <p:sldId id="259" r:id="rId8"/>
    <p:sldId id="288" r:id="rId9"/>
    <p:sldId id="289" r:id="rId10"/>
    <p:sldId id="260" r:id="rId11"/>
    <p:sldId id="279" r:id="rId12"/>
    <p:sldId id="262" r:id="rId13"/>
    <p:sldId id="272" r:id="rId14"/>
    <p:sldId id="271" r:id="rId15"/>
    <p:sldId id="270" r:id="rId16"/>
    <p:sldId id="277" r:id="rId17"/>
    <p:sldId id="276" r:id="rId18"/>
    <p:sldId id="275" r:id="rId19"/>
    <p:sldId id="265" r:id="rId20"/>
    <p:sldId id="267" r:id="rId21"/>
    <p:sldId id="268" r:id="rId22"/>
    <p:sldId id="286" r:id="rId23"/>
    <p:sldId id="269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03" autoAdjust="0"/>
    <p:restoredTop sz="94610"/>
  </p:normalViewPr>
  <p:slideViewPr>
    <p:cSldViewPr snapToGrid="0" snapToObjects="1">
      <p:cViewPr>
        <p:scale>
          <a:sx n="75" d="100"/>
          <a:sy n="75" d="100"/>
        </p:scale>
        <p:origin x="1168" y="7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3624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svg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38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6.png"/><Relationship Id="rId4" Type="http://schemas.openxmlformats.org/officeDocument/2006/relationships/image" Target="../media/image7.png"/><Relationship Id="rId9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asim-stha.github.io/VaagBanda/landingpage/#cta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DC143C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4114800"/>
            <a:ext cx="4572000" cy="4572000"/>
          </a:xfrm>
          <a:prstGeom prst="ellipse">
            <a:avLst/>
          </a:prstGeom>
          <a:solidFill>
            <a:srgbClr val="2B3F75">
              <a:alpha val="40000"/>
            </a:srgbClr>
          </a:solidFill>
          <a:ln/>
        </p:spPr>
      </p:sp>
      <p:pic>
        <p:nvPicPr>
          <p:cNvPr id="4" name="Image 0" descr="/home/claude/pre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548640"/>
            <a:ext cx="3474720" cy="18928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977640" y="2651760"/>
            <a:ext cx="4206240" cy="502920"/>
          </a:xfrm>
          <a:prstGeom prst="roundRect">
            <a:avLst>
              <a:gd name="adj" fmla="val 50909"/>
            </a:avLst>
          </a:prstGeom>
          <a:solidFill>
            <a:srgbClr val="DC143C"/>
          </a:solidFill>
          <a:ln/>
        </p:spPr>
      </p:sp>
      <p:sp>
        <p:nvSpPr>
          <p:cNvPr id="6" name="Text 3"/>
          <p:cNvSpPr/>
          <p:nvPr/>
        </p:nvSpPr>
        <p:spPr>
          <a:xfrm>
            <a:off x="3977640" y="26517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· SPLIT · SETTLE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338328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Mobile Expense-Splitting Application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914400" y="41148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1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Document Presentation - Design Phase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0" y="5760720"/>
            <a:ext cx="12161520" cy="109728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10" name="Text 7"/>
          <p:cNvSpPr/>
          <p:nvPr/>
        </p:nvSpPr>
        <p:spPr>
          <a:xfrm>
            <a:off x="0" y="5852160"/>
            <a:ext cx="1216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800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CYBERSQUADNP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0" y="6172200"/>
            <a:ext cx="30403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Lama Rojan · Project Manager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040380" y="6172200"/>
            <a:ext cx="30403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Lama Nischal · Systems Analyst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080760" y="6172200"/>
            <a:ext cx="30403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Dankoti Jabin · UI/UX Designer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121140" y="6172200"/>
            <a:ext cx="30403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Shrestha Asim · Developer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0" y="649224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Dongshin University · Glocal Autonomous Major College · Supervisor: Prof. Ibrahim Musa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F1F4A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114800"/>
            <a:ext cx="3657600" cy="3657600"/>
          </a:xfrm>
          <a:prstGeom prst="ellipse">
            <a:avLst/>
          </a:prstGeom>
          <a:solidFill>
            <a:srgbClr val="DC143C">
              <a:alpha val="30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864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3716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bill arrives.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48640" y="26060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DC14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Then comes the chaos.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48640" y="3657600"/>
            <a:ext cx="4023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1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friends. One receipt. Different orders. One person paid the whole thing — and now everyone owes a different amount.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212080" y="5486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FAMILIAR SCENE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212080" y="9144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we built VaagBanda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5212080" y="1783080"/>
            <a:ext cx="6583680" cy="914400"/>
          </a:xfrm>
          <a:prstGeom prst="rect">
            <a:avLst/>
          </a:prstGeom>
          <a:solidFill>
            <a:srgbClr val="F7F8FB"/>
          </a:solidFill>
          <a:ln w="12700">
            <a:solidFill>
              <a:srgbClr val="E1E5EE"/>
            </a:solidFill>
            <a:prstDash val="solid"/>
          </a:ln>
          <a:effectLst>
            <a:outerShdw blurRad="177800" dist="50800" dir="5400000" algn="bl" rotWithShape="0">
              <a:srgbClr val="0F264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349240" y="1947672"/>
            <a:ext cx="594360" cy="5943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C143C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4688" y="2103120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080760" y="1892808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Math at the Table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080760" y="224028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fumbles with a calculator. Tip? Tax? Who had the appetizer?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212080" y="2862072"/>
            <a:ext cx="6583680" cy="914400"/>
          </a:xfrm>
          <a:prstGeom prst="rect">
            <a:avLst/>
          </a:prstGeom>
          <a:solidFill>
            <a:srgbClr val="F7F8FB"/>
          </a:solidFill>
          <a:ln w="12700">
            <a:solidFill>
              <a:srgbClr val="E1E5EE"/>
            </a:solidFill>
            <a:prstDash val="solid"/>
          </a:ln>
          <a:effectLst>
            <a:outerShdw blurRad="177800" dist="50800" dir="5400000" algn="bl" rotWithShape="0">
              <a:srgbClr val="0F264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349240" y="3026664"/>
            <a:ext cx="594360" cy="5943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C143C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4688" y="3182112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080760" y="297180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Receipts, Lost Trust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080760" y="3319272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chats fill up with screenshots. Old debts get forgotten.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212080" y="3941064"/>
            <a:ext cx="6583680" cy="914400"/>
          </a:xfrm>
          <a:prstGeom prst="rect">
            <a:avLst/>
          </a:prstGeom>
          <a:solidFill>
            <a:srgbClr val="F7F8FB"/>
          </a:solidFill>
          <a:ln w="12700">
            <a:solidFill>
              <a:srgbClr val="E1E5EE"/>
            </a:solidFill>
            <a:prstDash val="solid"/>
          </a:ln>
          <a:effectLst>
            <a:outerShdw blurRad="177800" dist="50800" dir="5400000" algn="bl" rotWithShape="0">
              <a:srgbClr val="0F264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5349240" y="4105656"/>
            <a:ext cx="594360" cy="5943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C143C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4688" y="4261104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080760" y="4050792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Awkward Money Conversations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6080760" y="4398264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still owe me from last week." Nobody wants to be that friend.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5212080" y="5020056"/>
            <a:ext cx="6583680" cy="914400"/>
          </a:xfrm>
          <a:prstGeom prst="rect">
            <a:avLst/>
          </a:prstGeom>
          <a:solidFill>
            <a:srgbClr val="F7F8FB"/>
          </a:solidFill>
          <a:ln w="12700">
            <a:solidFill>
              <a:srgbClr val="E1E5EE"/>
            </a:solidFill>
            <a:prstDash val="solid"/>
          </a:ln>
          <a:effectLst>
            <a:outerShdw blurRad="177800" dist="50800" dir="5400000" algn="bl" rotWithShape="0">
              <a:srgbClr val="0F2640">
                <a:alpha val="1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5349240" y="5184648"/>
            <a:ext cx="594360" cy="5943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C143C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04688" y="5340096"/>
            <a:ext cx="292608" cy="29260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080760" y="5129784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Gets Worse with Groups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6080760" y="5477256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Roommates, trips, events — the more people, the bigger the mess.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5212080" y="62636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DC14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VaagBanda turns this chaos into one calm screen.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VAAGBANDA?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mobile app for splitting expenses, without the math.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 Splitwise. Built independently as an academic project to demonstrate Systems Analysis &amp; Design principles.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5486400" cy="4434840"/>
          </a:xfrm>
          <a:prstGeom prst="rect">
            <a:avLst/>
          </a:prstGeom>
          <a:solidFill>
            <a:srgbClr val="F7F8FB"/>
          </a:solidFill>
          <a:ln w="12700">
            <a:solidFill>
              <a:srgbClr val="E1E5EE"/>
            </a:solidFill>
            <a:prstDash val="solid"/>
          </a:ln>
          <a:effectLst>
            <a:outerShdw blurRad="177800" dist="50800" dir="5400000" algn="bl" rotWithShape="0">
              <a:srgbClr val="0F264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103120"/>
            <a:ext cx="137160" cy="4434840"/>
          </a:xfrm>
          <a:prstGeom prst="rect">
            <a:avLst/>
          </a:prstGeom>
          <a:solidFill>
            <a:srgbClr val="DC143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2402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54203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app does</a:t>
            </a:r>
            <a:endParaRPr lang="en-US" sz="20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191256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160" y="3154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017520" y="31546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Email/password, biometric, social login</a:t>
            </a:r>
            <a:endParaRPr lang="en-US" sz="10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739896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80160" y="3703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Management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017520" y="370332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groups, invite by email, admin roles</a:t>
            </a:r>
            <a:endParaRPr lang="en-US" sz="105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288536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80160" y="42519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Splitting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3017520" y="425196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Equal, exact, percentage, and shares</a:t>
            </a:r>
            <a:endParaRPr lang="en-US" sz="105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4837176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80160" y="48006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&amp; Settlements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3017520" y="480060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balances, debt simplification</a:t>
            </a:r>
            <a:endParaRPr lang="en-US" sz="105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5385816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80160" y="5349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3017520" y="534924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alerts and payment reminders</a:t>
            </a:r>
            <a:endParaRPr lang="en-US" sz="105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680" y="5934456"/>
            <a:ext cx="256032" cy="25603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280160" y="58978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Multi-Currency + OCR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3017520" y="58978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conversion, receipt scanning</a:t>
            </a:r>
            <a:endParaRPr lang="en-US" sz="1050" dirty="0"/>
          </a:p>
        </p:txBody>
      </p:sp>
      <p:sp>
        <p:nvSpPr>
          <p:cNvPr id="27" name="Shape 19"/>
          <p:cNvSpPr/>
          <p:nvPr/>
        </p:nvSpPr>
        <p:spPr>
          <a:xfrm>
            <a:off x="6217920" y="2103120"/>
            <a:ext cx="5486400" cy="4434840"/>
          </a:xfrm>
          <a:prstGeom prst="rect">
            <a:avLst/>
          </a:prstGeom>
          <a:solidFill>
            <a:srgbClr val="0F1F4A"/>
          </a:solidFill>
          <a:ln/>
          <a:effectLst>
            <a:outerShdw blurRad="177800" dist="50800" dir="5400000" algn="bl" rotWithShape="0">
              <a:srgbClr val="0F2640">
                <a:alpha val="10000"/>
              </a:srgbClr>
            </a:outerShdw>
          </a:effectLst>
        </p:spPr>
      </p:sp>
      <p:sp>
        <p:nvSpPr>
          <p:cNvPr id="28" name="Text 20"/>
          <p:cNvSpPr/>
          <p:nvPr/>
        </p:nvSpPr>
        <p:spPr>
          <a:xfrm>
            <a:off x="6492240" y="22402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6492240" y="254203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app behaves</a:t>
            </a:r>
            <a:endParaRPr lang="en-US" sz="2000" dirty="0"/>
          </a:p>
        </p:txBody>
      </p:sp>
      <p:sp>
        <p:nvSpPr>
          <p:cNvPr id="30" name="Shape 22"/>
          <p:cNvSpPr/>
          <p:nvPr/>
        </p:nvSpPr>
        <p:spPr>
          <a:xfrm>
            <a:off x="6492240" y="3200400"/>
            <a:ext cx="228600" cy="228600"/>
          </a:xfrm>
          <a:prstGeom prst="ellipse">
            <a:avLst/>
          </a:prstGeom>
          <a:solidFill>
            <a:srgbClr val="DC143C"/>
          </a:solidFill>
          <a:ln/>
        </p:spPr>
      </p:sp>
      <p:sp>
        <p:nvSpPr>
          <p:cNvPr id="31" name="Text 23"/>
          <p:cNvSpPr/>
          <p:nvPr/>
        </p:nvSpPr>
        <p:spPr>
          <a:xfrm>
            <a:off x="6812280" y="3154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32" name="Text 24"/>
          <p:cNvSpPr/>
          <p:nvPr/>
        </p:nvSpPr>
        <p:spPr>
          <a:xfrm>
            <a:off x="8503920" y="31546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1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response on typical smartphones; pagination for large groups</a:t>
            </a:r>
            <a:endParaRPr lang="en-US" sz="1050" dirty="0"/>
          </a:p>
        </p:txBody>
      </p:sp>
      <p:sp>
        <p:nvSpPr>
          <p:cNvPr id="33" name="Shape 25"/>
          <p:cNvSpPr/>
          <p:nvPr/>
        </p:nvSpPr>
        <p:spPr>
          <a:xfrm>
            <a:off x="6492240" y="3749040"/>
            <a:ext cx="228600" cy="228600"/>
          </a:xfrm>
          <a:prstGeom prst="ellipse">
            <a:avLst/>
          </a:prstGeom>
          <a:solidFill>
            <a:srgbClr val="DC143C"/>
          </a:solidFill>
          <a:ln/>
        </p:spPr>
      </p:sp>
      <p:sp>
        <p:nvSpPr>
          <p:cNvPr id="34" name="Text 26"/>
          <p:cNvSpPr/>
          <p:nvPr/>
        </p:nvSpPr>
        <p:spPr>
          <a:xfrm>
            <a:off x="6812280" y="37033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8503920" y="3703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1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HTTPS, bcrypt hashing, JWT tokens, encrypted at rest</a:t>
            </a:r>
            <a:endParaRPr lang="en-US" sz="1050" dirty="0"/>
          </a:p>
        </p:txBody>
      </p:sp>
      <p:sp>
        <p:nvSpPr>
          <p:cNvPr id="36" name="Shape 28"/>
          <p:cNvSpPr/>
          <p:nvPr/>
        </p:nvSpPr>
        <p:spPr>
          <a:xfrm>
            <a:off x="6492240" y="4297680"/>
            <a:ext cx="228600" cy="228600"/>
          </a:xfrm>
          <a:prstGeom prst="ellipse">
            <a:avLst/>
          </a:prstGeom>
          <a:solidFill>
            <a:srgbClr val="DC143C"/>
          </a:solidFill>
          <a:ln/>
        </p:spPr>
      </p:sp>
      <p:sp>
        <p:nvSpPr>
          <p:cNvPr id="37" name="Text 29"/>
          <p:cNvSpPr/>
          <p:nvPr/>
        </p:nvSpPr>
        <p:spPr>
          <a:xfrm>
            <a:off x="6812280" y="42519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</a:t>
            </a:r>
            <a:endParaRPr lang="en-US" sz="1200" dirty="0"/>
          </a:p>
        </p:txBody>
      </p:sp>
      <p:sp>
        <p:nvSpPr>
          <p:cNvPr id="38" name="Text 30"/>
          <p:cNvSpPr/>
          <p:nvPr/>
        </p:nvSpPr>
        <p:spPr>
          <a:xfrm>
            <a:off x="8503920" y="4251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1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Intuitive enough that new users add expenses without help</a:t>
            </a:r>
            <a:endParaRPr lang="en-US" sz="1050" dirty="0"/>
          </a:p>
        </p:txBody>
      </p:sp>
      <p:sp>
        <p:nvSpPr>
          <p:cNvPr id="39" name="Shape 31"/>
          <p:cNvSpPr/>
          <p:nvPr/>
        </p:nvSpPr>
        <p:spPr>
          <a:xfrm>
            <a:off x="6492240" y="4846320"/>
            <a:ext cx="228600" cy="228600"/>
          </a:xfrm>
          <a:prstGeom prst="ellipse">
            <a:avLst/>
          </a:prstGeom>
          <a:solidFill>
            <a:srgbClr val="DC143C"/>
          </a:solidFill>
          <a:ln/>
        </p:spPr>
      </p:sp>
      <p:sp>
        <p:nvSpPr>
          <p:cNvPr id="40" name="Text 32"/>
          <p:cNvSpPr/>
          <p:nvPr/>
        </p:nvSpPr>
        <p:spPr>
          <a:xfrm>
            <a:off x="6812280" y="48006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Portability</a:t>
            </a:r>
            <a:endParaRPr lang="en-US" sz="1200" dirty="0"/>
          </a:p>
        </p:txBody>
      </p:sp>
      <p:sp>
        <p:nvSpPr>
          <p:cNvPr id="41" name="Text 33"/>
          <p:cNvSpPr/>
          <p:nvPr/>
        </p:nvSpPr>
        <p:spPr>
          <a:xfrm>
            <a:off x="8503920" y="4800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1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codebase runs on both iOS and Android</a:t>
            </a:r>
            <a:endParaRPr lang="en-US" sz="1050" dirty="0"/>
          </a:p>
        </p:txBody>
      </p:sp>
      <p:sp>
        <p:nvSpPr>
          <p:cNvPr id="42" name="Shape 34"/>
          <p:cNvSpPr/>
          <p:nvPr/>
        </p:nvSpPr>
        <p:spPr>
          <a:xfrm>
            <a:off x="6492240" y="5394960"/>
            <a:ext cx="228600" cy="228600"/>
          </a:xfrm>
          <a:prstGeom prst="ellipse">
            <a:avLst/>
          </a:prstGeom>
          <a:solidFill>
            <a:srgbClr val="DC143C"/>
          </a:solidFill>
          <a:ln/>
        </p:spPr>
      </p:sp>
      <p:sp>
        <p:nvSpPr>
          <p:cNvPr id="43" name="Text 35"/>
          <p:cNvSpPr/>
          <p:nvPr/>
        </p:nvSpPr>
        <p:spPr>
          <a:xfrm>
            <a:off x="6812280" y="53492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200" dirty="0"/>
          </a:p>
        </p:txBody>
      </p:sp>
      <p:sp>
        <p:nvSpPr>
          <p:cNvPr id="44" name="Text 36"/>
          <p:cNvSpPr/>
          <p:nvPr/>
        </p:nvSpPr>
        <p:spPr>
          <a:xfrm>
            <a:off x="8503920" y="5349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1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expense entry; auto-sync when connectivity returns</a:t>
            </a:r>
            <a:endParaRPr lang="en-US" sz="1050" dirty="0"/>
          </a:p>
        </p:txBody>
      </p:sp>
      <p:sp>
        <p:nvSpPr>
          <p:cNvPr id="45" name="Shape 37"/>
          <p:cNvSpPr/>
          <p:nvPr/>
        </p:nvSpPr>
        <p:spPr>
          <a:xfrm>
            <a:off x="6492240" y="5943600"/>
            <a:ext cx="228600" cy="228600"/>
          </a:xfrm>
          <a:prstGeom prst="ellipse">
            <a:avLst/>
          </a:prstGeom>
          <a:solidFill>
            <a:srgbClr val="DC143C"/>
          </a:solidFill>
          <a:ln/>
        </p:spPr>
      </p:sp>
      <p:sp>
        <p:nvSpPr>
          <p:cNvPr id="46" name="Text 38"/>
          <p:cNvSpPr/>
          <p:nvPr/>
        </p:nvSpPr>
        <p:spPr>
          <a:xfrm>
            <a:off x="6812280" y="58978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Limit</a:t>
            </a:r>
            <a:endParaRPr lang="en-US" sz="1200" dirty="0"/>
          </a:p>
        </p:txBody>
      </p:sp>
      <p:sp>
        <p:nvSpPr>
          <p:cNvPr id="47" name="Text 39"/>
          <p:cNvSpPr/>
          <p:nvPr/>
        </p:nvSpPr>
        <p:spPr>
          <a:xfrm>
            <a:off x="8503920" y="5897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1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expenses only — does NOT process actual money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77">
            <a:extLst>
              <a:ext uri="{FF2B5EF4-FFF2-40B4-BE49-F238E27FC236}">
                <a16:creationId xmlns:a16="http://schemas.microsoft.com/office/drawing/2014/main" id="{04A6C32F-009D-3977-9D9A-62C731818561}"/>
              </a:ext>
            </a:extLst>
          </p:cNvPr>
          <p:cNvSpPr txBox="1"/>
          <p:nvPr/>
        </p:nvSpPr>
        <p:spPr>
          <a:xfrm>
            <a:off x="837402" y="1384634"/>
            <a:ext cx="4444465" cy="106980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154940" marR="0">
              <a:spcBef>
                <a:spcPts val="1280"/>
              </a:spcBef>
              <a:spcAft>
                <a:spcPts val="0"/>
              </a:spcAft>
            </a:pPr>
            <a:r>
              <a:rPr lang="en-US" sz="1350" b="1" spc="-10" dirty="0">
                <a:effectLst/>
                <a:latin typeface="Trebuchet MS" panose="020B0603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Authentication</a:t>
            </a:r>
            <a:endParaRPr lang="en-US" sz="110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76555" marR="398780">
              <a:lnSpc>
                <a:spcPct val="130000"/>
              </a:lnSpc>
              <a:spcBef>
                <a:spcPts val="895"/>
              </a:spcBef>
              <a:spcAft>
                <a:spcPts val="0"/>
              </a:spcAft>
            </a:pPr>
            <a:r>
              <a:rPr lang="en-US" sz="1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Biometric login (Face ID / Fingerprint) per</a:t>
            </a:r>
            <a:r>
              <a:rPr lang="en-US" sz="1100" spc="-15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device</a:t>
            </a:r>
          </a:p>
          <a:p>
            <a:pPr marL="376555" marR="202565">
              <a:lnSpc>
                <a:spcPct val="130000"/>
              </a:lnSpc>
              <a:spcBef>
                <a:spcPts val="395"/>
              </a:spcBef>
              <a:spcAft>
                <a:spcPts val="0"/>
              </a:spcAft>
            </a:pPr>
            <a:r>
              <a:rPr lang="en-US" sz="1100" spc="-3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Secure</a:t>
            </a:r>
            <a:r>
              <a:rPr lang="en-US" sz="1100" spc="-11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100" spc="-3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session</a:t>
            </a:r>
            <a:r>
              <a:rPr lang="en-US" sz="1100" spc="-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100" spc="-3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management</a:t>
            </a:r>
            <a:r>
              <a:rPr lang="en-US" sz="1100" spc="-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100" spc="-3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with</a:t>
            </a:r>
            <a:r>
              <a:rPr lang="en-US" sz="1100" spc="-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100" spc="-3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token </a:t>
            </a:r>
            <a:r>
              <a:rPr lang="en-US" sz="1100" spc="-1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expiry</a:t>
            </a:r>
            <a:endParaRPr lang="en-US" sz="110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76555" marR="0">
              <a:spcBef>
                <a:spcPts val="400"/>
              </a:spcBef>
              <a:spcAft>
                <a:spcPts val="0"/>
              </a:spcAft>
            </a:pPr>
            <a:r>
              <a:rPr lang="en-US" sz="1100" spc="-3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Password</a:t>
            </a:r>
            <a:r>
              <a:rPr lang="en-US" sz="1100" spc="-95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100" spc="-3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reset</a:t>
            </a:r>
            <a:r>
              <a:rPr lang="en-US" sz="1100" spc="-9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100" spc="-3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via</a:t>
            </a:r>
            <a:r>
              <a:rPr lang="en-US" sz="1100" spc="-9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100" spc="-3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verified</a:t>
            </a:r>
            <a:r>
              <a:rPr lang="en-US" sz="1100" spc="-9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100" spc="-3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token</a:t>
            </a:r>
            <a:r>
              <a:rPr lang="en-US" sz="1100" spc="-9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100" spc="-3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flow</a:t>
            </a:r>
            <a:endParaRPr lang="en-US" sz="110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" name="Textbox 82">
            <a:extLst>
              <a:ext uri="{FF2B5EF4-FFF2-40B4-BE49-F238E27FC236}">
                <a16:creationId xmlns:a16="http://schemas.microsoft.com/office/drawing/2014/main" id="{C6B0DD82-44B5-C7DC-CBAB-42B933E45611}"/>
              </a:ext>
            </a:extLst>
          </p:cNvPr>
          <p:cNvSpPr txBox="1"/>
          <p:nvPr/>
        </p:nvSpPr>
        <p:spPr>
          <a:xfrm>
            <a:off x="837401" y="2563400"/>
            <a:ext cx="4444465" cy="122655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156845" marR="0">
              <a:spcBef>
                <a:spcPts val="1280"/>
              </a:spcBef>
              <a:spcAft>
                <a:spcPts val="0"/>
              </a:spcAft>
            </a:pPr>
            <a:r>
              <a:rPr lang="en-US" sz="1350" b="1" dirty="0">
                <a:effectLst/>
                <a:latin typeface="Trebuchet MS" panose="020B0603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Group</a:t>
            </a:r>
            <a:r>
              <a:rPr lang="en-US" sz="1350" b="1" spc="-35" dirty="0">
                <a:effectLst/>
                <a:latin typeface="Trebuchet MS" panose="020B0603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350" b="1" spc="-10" dirty="0">
                <a:effectLst/>
                <a:latin typeface="Trebuchet MS" panose="020B0603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Management</a:t>
            </a:r>
            <a:endParaRPr lang="en-US" sz="11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156845" marR="0">
              <a:spcBef>
                <a:spcPts val="1280"/>
              </a:spcBef>
              <a:spcAft>
                <a:spcPts val="0"/>
              </a:spcAft>
            </a:pPr>
            <a:r>
              <a:rPr lang="en-US" sz="1100" spc="-4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Create,</a:t>
            </a:r>
            <a:r>
              <a:rPr lang="en-US" sz="1100" spc="-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100" spc="-4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name,</a:t>
            </a:r>
            <a:r>
              <a:rPr lang="en-US" sz="1100" spc="-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100" spc="-4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and</a:t>
            </a:r>
            <a:r>
              <a:rPr lang="en-US" sz="1100" spc="-9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100" spc="-4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manage</a:t>
            </a:r>
            <a:r>
              <a:rPr lang="en-US" sz="1100" spc="-9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100" spc="-4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expense-</a:t>
            </a:r>
            <a:r>
              <a:rPr lang="en-US" sz="1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sharing</a:t>
            </a:r>
            <a:r>
              <a:rPr lang="en-US" sz="1100" spc="-15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groups</a:t>
            </a:r>
          </a:p>
          <a:p>
            <a:pPr marL="379095" marR="0">
              <a:lnSpc>
                <a:spcPct val="130000"/>
              </a:lnSpc>
              <a:spcBef>
                <a:spcPts val="395"/>
              </a:spcBef>
              <a:spcAft>
                <a:spcPts val="0"/>
              </a:spcAft>
            </a:pPr>
            <a:r>
              <a:rPr lang="en-US" sz="1100" spc="-4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Add</a:t>
            </a:r>
            <a:r>
              <a:rPr lang="en-US" sz="1100" spc="-8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100" spc="-4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or</a:t>
            </a:r>
            <a:r>
              <a:rPr lang="en-US" sz="1100" spc="-8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100" spc="-4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remove</a:t>
            </a:r>
            <a:r>
              <a:rPr lang="en-US" sz="1100" spc="-8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100" spc="-4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members;</a:t>
            </a:r>
            <a:r>
              <a:rPr lang="en-US" sz="1100" spc="-8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100" spc="-4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assign</a:t>
            </a:r>
            <a:r>
              <a:rPr lang="en-US" sz="1100" spc="-8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100" spc="-4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roles </a:t>
            </a:r>
            <a:r>
              <a:rPr lang="en-US" sz="1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within</a:t>
            </a:r>
            <a:r>
              <a:rPr lang="en-US" sz="1100" spc="-15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groups</a:t>
            </a:r>
          </a:p>
          <a:p>
            <a:pPr marL="379095" marR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</a:pPr>
            <a:r>
              <a:rPr lang="en-US" sz="1100" spc="-3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Each</a:t>
            </a:r>
            <a:r>
              <a:rPr lang="en-US" sz="1100" spc="-9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100" spc="-3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user</a:t>
            </a:r>
            <a:r>
              <a:rPr lang="en-US" sz="1100" spc="-9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100" spc="-3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can</a:t>
            </a:r>
            <a:r>
              <a:rPr lang="en-US" sz="1100" spc="-9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100" spc="-3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belong</a:t>
            </a:r>
            <a:r>
              <a:rPr lang="en-US" sz="1100" spc="-9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100" spc="-3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</a:t>
            </a:r>
            <a:r>
              <a:rPr lang="en-US" sz="1100" spc="-9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100" spc="-3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multiple</a:t>
            </a:r>
            <a:r>
              <a:rPr lang="en-US" sz="1100" spc="-9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100" spc="-3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groups </a:t>
            </a:r>
            <a:r>
              <a:rPr lang="en-US" sz="1100" spc="-1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simultaneously</a:t>
            </a:r>
            <a:endParaRPr lang="en-US" sz="110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Textbox 87">
            <a:extLst>
              <a:ext uri="{FF2B5EF4-FFF2-40B4-BE49-F238E27FC236}">
                <a16:creationId xmlns:a16="http://schemas.microsoft.com/office/drawing/2014/main" id="{3D3F5B1F-46B2-907D-E609-B9263CD27117}"/>
              </a:ext>
            </a:extLst>
          </p:cNvPr>
          <p:cNvSpPr txBox="1"/>
          <p:nvPr/>
        </p:nvSpPr>
        <p:spPr>
          <a:xfrm>
            <a:off x="837394" y="3878260"/>
            <a:ext cx="4444464" cy="1538883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154940" marR="0">
              <a:spcBef>
                <a:spcPts val="1280"/>
              </a:spcBef>
              <a:spcAft>
                <a:spcPts val="0"/>
              </a:spcAft>
            </a:pPr>
            <a:r>
              <a:rPr lang="en-US" sz="1350" b="1" dirty="0">
                <a:effectLst/>
                <a:latin typeface="Trebuchet MS" panose="020B0603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Expense</a:t>
            </a:r>
            <a:r>
              <a:rPr lang="en-US" sz="1350" b="1" spc="-65" dirty="0">
                <a:effectLst/>
                <a:latin typeface="Trebuchet MS" panose="020B0603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350" b="1" spc="-10" dirty="0">
                <a:effectLst/>
                <a:latin typeface="Trebuchet MS" panose="020B0603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Splitting</a:t>
            </a:r>
            <a:endParaRPr lang="en-US" sz="110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76555" marR="778510">
              <a:lnSpc>
                <a:spcPct val="130000"/>
              </a:lnSpc>
              <a:spcBef>
                <a:spcPts val="895"/>
              </a:spcBef>
              <a:spcAft>
                <a:spcPts val="0"/>
              </a:spcAft>
            </a:pPr>
            <a:r>
              <a:rPr lang="en-US" sz="1100" spc="-2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Log</a:t>
            </a:r>
            <a:r>
              <a:rPr lang="en-US" sz="1100" spc="-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100" spc="-2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expenses</a:t>
            </a:r>
            <a:r>
              <a:rPr lang="en-US" sz="1100" spc="-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100" spc="-2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with</a:t>
            </a:r>
            <a:r>
              <a:rPr lang="en-US" sz="1100" spc="-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100" spc="-2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description, </a:t>
            </a:r>
            <a:r>
              <a:rPr lang="en-US" sz="1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category, and payer</a:t>
            </a:r>
          </a:p>
          <a:p>
            <a:pPr marL="376555" marR="165735">
              <a:lnSpc>
                <a:spcPct val="130000"/>
              </a:lnSpc>
              <a:spcBef>
                <a:spcPts val="395"/>
              </a:spcBef>
              <a:spcAft>
                <a:spcPts val="0"/>
              </a:spcAft>
            </a:pPr>
            <a:r>
              <a:rPr lang="en-US" sz="1100" spc="-3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Auto-split</a:t>
            </a:r>
            <a:r>
              <a:rPr lang="en-US" sz="1100" spc="-95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100" spc="-3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by</a:t>
            </a:r>
            <a:r>
              <a:rPr lang="en-US" sz="1100" spc="-95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100" spc="-3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equal</a:t>
            </a:r>
            <a:r>
              <a:rPr lang="en-US" sz="1100" spc="-95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100" spc="-3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share</a:t>
            </a:r>
            <a:r>
              <a:rPr lang="en-US" sz="1100" spc="-95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100" spc="-3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or</a:t>
            </a:r>
            <a:r>
              <a:rPr lang="en-US" sz="1100" spc="-95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100" spc="-3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custom</a:t>
            </a:r>
            <a:r>
              <a:rPr lang="en-US" sz="1100" spc="-95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100" spc="-3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per-</a:t>
            </a:r>
            <a:r>
              <a:rPr lang="en-US" sz="1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member</a:t>
            </a:r>
            <a:r>
              <a:rPr lang="en-US" sz="1100" spc="-15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amounts</a:t>
            </a:r>
          </a:p>
          <a:p>
            <a:pPr marL="376555" marR="485775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</a:pPr>
            <a:r>
              <a:rPr lang="en-US" sz="1100" spc="-3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Optional</a:t>
            </a:r>
            <a:r>
              <a:rPr lang="en-US" sz="1100" spc="-11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100" spc="-3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receipt</a:t>
            </a:r>
            <a:r>
              <a:rPr lang="en-US" sz="1100" spc="-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100" spc="-3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OCR</a:t>
            </a:r>
            <a:r>
              <a:rPr lang="en-US" sz="1100" spc="-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100" spc="-3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for</a:t>
            </a:r>
            <a:r>
              <a:rPr lang="en-US" sz="1100" spc="-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100" spc="-3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automated </a:t>
            </a:r>
            <a:r>
              <a:rPr lang="en-US" sz="1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expense</a:t>
            </a:r>
            <a:r>
              <a:rPr lang="en-US" sz="1100" spc="-15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entry</a:t>
            </a:r>
          </a:p>
        </p:txBody>
      </p:sp>
      <p:sp>
        <p:nvSpPr>
          <p:cNvPr id="9" name="Textbox 92">
            <a:extLst>
              <a:ext uri="{FF2B5EF4-FFF2-40B4-BE49-F238E27FC236}">
                <a16:creationId xmlns:a16="http://schemas.microsoft.com/office/drawing/2014/main" id="{2D439E7C-D61D-FE5F-BEC6-1C809F97B4EF}"/>
              </a:ext>
            </a:extLst>
          </p:cNvPr>
          <p:cNvSpPr txBox="1"/>
          <p:nvPr/>
        </p:nvSpPr>
        <p:spPr>
          <a:xfrm>
            <a:off x="849432" y="5524649"/>
            <a:ext cx="4444465" cy="1226553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156845" marR="0">
              <a:spcBef>
                <a:spcPts val="1280"/>
              </a:spcBef>
              <a:spcAft>
                <a:spcPts val="0"/>
              </a:spcAft>
            </a:pPr>
            <a:r>
              <a:rPr lang="en-US" sz="1350" b="1" dirty="0">
                <a:effectLst/>
                <a:latin typeface="Trebuchet MS" panose="020B0603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Settlement</a:t>
            </a:r>
            <a:r>
              <a:rPr lang="en-US" sz="1350" b="1" spc="-80" dirty="0">
                <a:effectLst/>
                <a:latin typeface="Trebuchet MS" panose="020B0603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350" b="1" spc="-10" dirty="0">
                <a:effectLst/>
                <a:latin typeface="Trebuchet MS" panose="020B0603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Tracking</a:t>
            </a:r>
            <a:endParaRPr lang="en-US" sz="110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79095" marR="0">
              <a:lnSpc>
                <a:spcPct val="130000"/>
              </a:lnSpc>
              <a:spcBef>
                <a:spcPts val="895"/>
              </a:spcBef>
              <a:spcAft>
                <a:spcPts val="0"/>
              </a:spcAft>
            </a:pPr>
            <a:r>
              <a:rPr lang="en-US" sz="1100" spc="-4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Record</a:t>
            </a:r>
            <a:r>
              <a:rPr lang="en-US" sz="1100" spc="-7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100" spc="-4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payments</a:t>
            </a:r>
            <a:r>
              <a:rPr lang="en-US" sz="1100" spc="-7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100" spc="-4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between</a:t>
            </a:r>
            <a:r>
              <a:rPr lang="en-US" sz="1100" spc="-7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100" spc="-4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members</a:t>
            </a:r>
            <a:r>
              <a:rPr lang="en-US" sz="1100" spc="-7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100" spc="-4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(no </a:t>
            </a:r>
            <a:r>
              <a:rPr lang="en-US" sz="1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money</a:t>
            </a:r>
            <a:r>
              <a:rPr lang="en-US" sz="1100" spc="-15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transfer)</a:t>
            </a:r>
          </a:p>
          <a:p>
            <a:pPr marL="379095" marR="0">
              <a:lnSpc>
                <a:spcPct val="130000"/>
              </a:lnSpc>
              <a:spcBef>
                <a:spcPts val="395"/>
              </a:spcBef>
              <a:spcAft>
                <a:spcPts val="0"/>
              </a:spcAft>
            </a:pPr>
            <a:r>
              <a:rPr lang="en-US" sz="1100" spc="-3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Real-time</a:t>
            </a:r>
            <a:r>
              <a:rPr lang="en-US" sz="1100" spc="-95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100" spc="-3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balance</a:t>
            </a:r>
            <a:r>
              <a:rPr lang="en-US" sz="1100" spc="-95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100" spc="-3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updates</a:t>
            </a:r>
            <a:r>
              <a:rPr lang="en-US" sz="1100" spc="-95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100" spc="-3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on</a:t>
            </a:r>
            <a:r>
              <a:rPr lang="en-US" sz="1100" spc="-95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100" spc="-3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each </a:t>
            </a:r>
            <a:r>
              <a:rPr lang="en-US" sz="1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recorded</a:t>
            </a:r>
            <a:r>
              <a:rPr lang="en-US" sz="1100" spc="-15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settlement</a:t>
            </a:r>
          </a:p>
          <a:p>
            <a:pPr marL="379095" marR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</a:pPr>
            <a:r>
              <a:rPr lang="en-US" sz="1100" spc="-3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Push</a:t>
            </a:r>
            <a:r>
              <a:rPr lang="en-US" sz="1100" spc="-65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100" spc="-3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notifications</a:t>
            </a:r>
            <a:r>
              <a:rPr lang="en-US" sz="1100" spc="-65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100" spc="-3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</a:t>
            </a:r>
            <a:r>
              <a:rPr lang="en-US" sz="1100" spc="-65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100" spc="-3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creditor</a:t>
            </a:r>
            <a:r>
              <a:rPr lang="en-US" sz="1100" spc="-65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100" spc="-3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upon </a:t>
            </a:r>
            <a:r>
              <a:rPr lang="en-US" sz="1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settlement</a:t>
            </a:r>
            <a:r>
              <a:rPr lang="en-US" sz="1100" spc="-15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receipt</a:t>
            </a:r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CEC331C6-73C4-4951-7CBC-E04AAC700C2D}"/>
              </a:ext>
            </a:extLst>
          </p:cNvPr>
          <p:cNvSpPr/>
          <p:nvPr/>
        </p:nvSpPr>
        <p:spPr>
          <a:xfrm>
            <a:off x="6809071" y="713232"/>
            <a:ext cx="5406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2600" dirty="0"/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5BC7BB3A-33B6-DD9E-138E-ABA1FA8AED39}"/>
              </a:ext>
            </a:extLst>
          </p:cNvPr>
          <p:cNvSpPr/>
          <p:nvPr/>
        </p:nvSpPr>
        <p:spPr>
          <a:xfrm>
            <a:off x="548639" y="560329"/>
            <a:ext cx="5201653" cy="640081"/>
          </a:xfrm>
          <a:prstGeom prst="rect">
            <a:avLst/>
          </a:prstGeom>
          <a:solidFill>
            <a:srgbClr val="DC143C"/>
          </a:solidFill>
          <a:ln/>
        </p:spPr>
        <p:txBody>
          <a:bodyPr/>
          <a:lstStyle/>
          <a:p>
            <a:r>
              <a:rPr lang="en-US" sz="3200" b="1" dirty="0"/>
              <a:t>Functional Requirements</a:t>
            </a:r>
          </a:p>
        </p:txBody>
      </p:sp>
      <p:sp>
        <p:nvSpPr>
          <p:cNvPr id="12" name="Shape 20">
            <a:extLst>
              <a:ext uri="{FF2B5EF4-FFF2-40B4-BE49-F238E27FC236}">
                <a16:creationId xmlns:a16="http://schemas.microsoft.com/office/drawing/2014/main" id="{C2D53D1B-6D1F-C851-55C1-932D27402F49}"/>
              </a:ext>
            </a:extLst>
          </p:cNvPr>
          <p:cNvSpPr/>
          <p:nvPr/>
        </p:nvSpPr>
        <p:spPr>
          <a:xfrm>
            <a:off x="6320591" y="560329"/>
            <a:ext cx="5771146" cy="640080"/>
          </a:xfrm>
          <a:prstGeom prst="rect">
            <a:avLst/>
          </a:prstGeom>
          <a:solidFill>
            <a:srgbClr val="0F1F4A"/>
          </a:solidFill>
          <a:ln/>
        </p:spPr>
        <p:txBody>
          <a:bodyPr/>
          <a:lstStyle/>
          <a:p>
            <a:r>
              <a:rPr lang="en-US" sz="3200" b="1" dirty="0">
                <a:solidFill>
                  <a:schemeClr val="bg2">
                    <a:lumMod val="90000"/>
                  </a:schemeClr>
                </a:solidFill>
              </a:rPr>
              <a:t>Non-Functional Requirements</a:t>
            </a:r>
          </a:p>
          <a:p>
            <a:endParaRPr lang="en-US" dirty="0"/>
          </a:p>
        </p:txBody>
      </p:sp>
      <p:sp>
        <p:nvSpPr>
          <p:cNvPr id="28" name="Textbox 77">
            <a:extLst>
              <a:ext uri="{FF2B5EF4-FFF2-40B4-BE49-F238E27FC236}">
                <a16:creationId xmlns:a16="http://schemas.microsoft.com/office/drawing/2014/main" id="{13D5719B-8530-F75D-FB32-B9BE35F4E44C}"/>
              </a:ext>
            </a:extLst>
          </p:cNvPr>
          <p:cNvSpPr txBox="1"/>
          <p:nvPr/>
        </p:nvSpPr>
        <p:spPr>
          <a:xfrm>
            <a:off x="6320591" y="1537034"/>
            <a:ext cx="5895472" cy="10698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31140" marR="0">
              <a:spcBef>
                <a:spcPts val="1280"/>
              </a:spcBef>
              <a:spcAft>
                <a:spcPts val="0"/>
              </a:spcAft>
            </a:pPr>
            <a:endParaRPr lang="en-US" sz="120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9" name="Rectangle 1">
            <a:extLst>
              <a:ext uri="{FF2B5EF4-FFF2-40B4-BE49-F238E27FC236}">
                <a16:creationId xmlns:a16="http://schemas.microsoft.com/office/drawing/2014/main" id="{BF9770A3-8C0D-96D4-9E6F-07E75F0297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0591" y="1384634"/>
            <a:ext cx="5771146" cy="1200329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HTTPS/TLS for all communication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Passwords stored as cryptographic hashes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AuthDB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isolated from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SharedExpenseDB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BiometricAuth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stores device flag only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A563D45-9C2F-FAE6-73C8-24F74D2E4261}"/>
              </a:ext>
            </a:extLst>
          </p:cNvPr>
          <p:cNvSpPr txBox="1"/>
          <p:nvPr/>
        </p:nvSpPr>
        <p:spPr>
          <a:xfrm>
            <a:off x="6320591" y="2658986"/>
            <a:ext cx="5771146" cy="98488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n-US" sz="1400" b="1" i="0" dirty="0">
                <a:effectLst/>
                <a:latin typeface="Inter"/>
              </a:rPr>
              <a:t>Data Integrity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100" b="0" i="0" dirty="0">
                <a:effectLst/>
                <a:latin typeface="Inter"/>
              </a:rPr>
              <a:t>DECIMAL(12,2) precision for financial amounts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100" b="0" i="0" dirty="0">
                <a:effectLst/>
                <a:latin typeface="Inter"/>
              </a:rPr>
              <a:t>Real-time balance calculation (no stale cache)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100" b="0" i="0" dirty="0">
                <a:effectLst/>
                <a:latin typeface="Inter"/>
              </a:rPr>
              <a:t>Transactional inserts across Expenses + Splits + Notifications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100" b="0" i="0" dirty="0">
                <a:effectLst/>
                <a:latin typeface="Inter"/>
              </a:rPr>
              <a:t>Full audit trail from creation to settlement</a:t>
            </a:r>
          </a:p>
        </p:txBody>
      </p:sp>
      <p:sp>
        <p:nvSpPr>
          <p:cNvPr id="39" name="Rectangle 4">
            <a:extLst>
              <a:ext uri="{FF2B5EF4-FFF2-40B4-BE49-F238E27FC236}">
                <a16:creationId xmlns:a16="http://schemas.microsoft.com/office/drawing/2014/main" id="{AA4F5744-624F-E04E-C267-963A6565F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0591" y="3878260"/>
            <a:ext cx="5771146" cy="1492716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 &amp; Scalability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Stateless, horizontally scalable API server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Per-request token validation (no server state)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Modular Pipe-and-Filter for independent scaling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1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0" name="Rectangle 5">
            <a:extLst>
              <a:ext uri="{FF2B5EF4-FFF2-40B4-BE49-F238E27FC236}">
                <a16:creationId xmlns:a16="http://schemas.microsoft.com/office/drawing/2014/main" id="{8491F4B6-BE79-E8F5-D47D-6AEDB83DB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0591" y="5417143"/>
            <a:ext cx="5771146" cy="1323439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Reliability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Atomic DB transactions on all writes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Asynchronous, non-blocking push notifications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1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0631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3C384E2-C11A-4D54-A4F1-0FE652403D85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04" y="1347216"/>
            <a:ext cx="5947728" cy="438054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96007E3-852E-42E8-877A-EAC01DCCDDE8}"/>
              </a:ext>
            </a:extLst>
          </p:cNvPr>
          <p:cNvSpPr txBox="1"/>
          <p:nvPr/>
        </p:nvSpPr>
        <p:spPr>
          <a:xfrm>
            <a:off x="6358128" y="1615441"/>
            <a:ext cx="523036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Authentication Service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for secure user login and identity verification 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Push Notification Service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for alerts, reminders, and activity updates 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Currency Exchange Service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for real-time currency conversion 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Receipt Scanner Service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for extracting expense information from receipts 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Settlement Recording Service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for tracking completed payments between users 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Analytics &amp; Report Export Service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for generating spending analysis and reports </a:t>
            </a:r>
          </a:p>
          <a:p>
            <a:pPr marL="45720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US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607D4A-2D8B-4859-8011-72E5137809E5}"/>
              </a:ext>
            </a:extLst>
          </p:cNvPr>
          <p:cNvSpPr txBox="1"/>
          <p:nvPr/>
        </p:nvSpPr>
        <p:spPr>
          <a:xfrm>
            <a:off x="150432" y="482846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b="1" kern="0" spc="600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DIAGRAM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114422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45720"/>
            <a:ext cx="117348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kern="0" spc="600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</a:t>
            </a:r>
          </a:p>
          <a:p>
            <a:pPr algn="l"/>
            <a:r>
              <a:rPr sz="1400" b="0" dirty="0">
                <a:solidFill>
                  <a:srgbClr val="5A6478"/>
                </a:solidFill>
              </a:rPr>
              <a:t>Who does what in the application</a:t>
            </a:r>
          </a:p>
        </p:txBody>
      </p:sp>
      <p:pic>
        <p:nvPicPr>
          <p:cNvPr id="3" name="Picture 2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667512"/>
            <a:ext cx="7330440" cy="5961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33911" y="1453234"/>
            <a:ext cx="4084320" cy="4383251"/>
          </a:xfrm>
          <a:prstGeom prst="rect">
            <a:avLst/>
          </a:prstGeom>
          <a:noFill/>
        </p:spPr>
        <p:txBody>
          <a:bodyPr wrap="square" lIns="91440" tIns="91440" rIns="91440" bIns="91440">
            <a:spAutoFit/>
          </a:bodyPr>
          <a:lstStyle/>
          <a:p>
            <a:pPr algn="l">
              <a:spcBef>
                <a:spcPts val="500"/>
              </a:spcBef>
            </a:pPr>
            <a:r>
              <a:rPr sz="1400" b="1" dirty="0">
                <a:solidFill>
                  <a:srgbClr val="0F1F4A"/>
                </a:solidFill>
              </a:rPr>
              <a:t>▸ </a:t>
            </a:r>
            <a:r>
              <a:rPr sz="1200" b="1" kern="0" spc="600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</a:t>
            </a:r>
          </a:p>
          <a:p>
            <a:pPr algn="l">
              <a:spcBef>
                <a:spcPts val="100"/>
              </a:spcBef>
            </a:pPr>
            <a:r>
              <a:rPr sz="1400" b="0" dirty="0">
                <a:solidFill>
                  <a:srgbClr val="1F2A44"/>
                </a:solidFill>
              </a:rPr>
              <a:t>Two human actors: User and Group Admin. Two external systems: Currency Exchange API and Push Notification Service.</a:t>
            </a:r>
          </a:p>
          <a:p>
            <a:pPr algn="l">
              <a:spcBef>
                <a:spcPts val="500"/>
              </a:spcBef>
            </a:pPr>
            <a:r>
              <a:rPr sz="1400" b="1" dirty="0">
                <a:solidFill>
                  <a:srgbClr val="0F1F4A"/>
                </a:solidFill>
              </a:rPr>
              <a:t>▸ </a:t>
            </a:r>
            <a:r>
              <a:rPr sz="1200" b="1" kern="0" spc="600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user actions</a:t>
            </a:r>
          </a:p>
          <a:p>
            <a:pPr algn="l">
              <a:spcBef>
                <a:spcPts val="100"/>
              </a:spcBef>
            </a:pPr>
            <a:r>
              <a:rPr sz="1400" b="0" dirty="0">
                <a:solidFill>
                  <a:srgbClr val="1F2A44"/>
                </a:solidFill>
              </a:rPr>
              <a:t>Register, login, add expenses, view history, view balances, record settlements, scan receipts via OCR, and export reports.</a:t>
            </a:r>
          </a:p>
          <a:p>
            <a:pPr algn="l">
              <a:spcBef>
                <a:spcPts val="500"/>
              </a:spcBef>
            </a:pPr>
            <a:r>
              <a:rPr sz="1400" b="1" dirty="0">
                <a:solidFill>
                  <a:srgbClr val="0F1F4A"/>
                </a:solidFill>
              </a:rPr>
              <a:t>▸ </a:t>
            </a:r>
            <a:r>
              <a:rPr sz="1200" b="1" kern="0" spc="600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extras</a:t>
            </a:r>
          </a:p>
          <a:p>
            <a:pPr algn="l">
              <a:spcBef>
                <a:spcPts val="100"/>
              </a:spcBef>
            </a:pPr>
            <a:r>
              <a:rPr sz="1400" b="0" dirty="0">
                <a:solidFill>
                  <a:srgbClr val="1F2A44"/>
                </a:solidFill>
              </a:rPr>
              <a:t>Group Admin can manage members, edit group settings, and delete the group — in addition to all regular user actions.</a:t>
            </a:r>
          </a:p>
          <a:p>
            <a:pPr algn="l">
              <a:spcBef>
                <a:spcPts val="500"/>
              </a:spcBef>
            </a:pPr>
            <a:r>
              <a:rPr sz="1400" b="1" dirty="0">
                <a:solidFill>
                  <a:srgbClr val="0F1F4A"/>
                </a:solidFill>
              </a:rPr>
              <a:t>▸</a:t>
            </a:r>
            <a:r>
              <a:rPr sz="1200" b="1" kern="0" spc="600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Include relationships</a:t>
            </a:r>
          </a:p>
          <a:p>
            <a:pPr algn="l">
              <a:spcBef>
                <a:spcPts val="100"/>
              </a:spcBef>
            </a:pPr>
            <a:r>
              <a:rPr sz="1400" b="0" dirty="0">
                <a:solidFill>
                  <a:srgbClr val="1F2A44"/>
                </a:solidFill>
              </a:rPr>
              <a:t>Add Expense includes Split Expense — you cannot add an expense without splitting it.</a:t>
            </a:r>
          </a:p>
          <a:p>
            <a:pPr algn="l">
              <a:spcBef>
                <a:spcPts val="500"/>
              </a:spcBef>
            </a:pPr>
            <a:r>
              <a:rPr sz="1400" b="1" dirty="0">
                <a:solidFill>
                  <a:srgbClr val="0F1F4A"/>
                </a:solidFill>
              </a:rPr>
              <a:t>▸ </a:t>
            </a:r>
            <a:r>
              <a:rPr sz="1200" b="1" kern="0" spc="600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links</a:t>
            </a:r>
          </a:p>
          <a:p>
            <a:pPr algn="l">
              <a:spcBef>
                <a:spcPts val="100"/>
              </a:spcBef>
            </a:pPr>
            <a:r>
              <a:rPr sz="1400" b="0" dirty="0">
                <a:solidFill>
                  <a:srgbClr val="1F2A44"/>
                </a:solidFill>
              </a:rPr>
              <a:t>Currency API is called during Convert Currency. Push Notification Service handles all Send Reminder calls.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Three-Tier Client–Server + Pipe-and-Filter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pattern: Client–Server separates the tiers; Pipe-and-Filter structures every request inside the server.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0" y="1920240"/>
            <a:ext cx="77724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E"/>
            </a:solidFill>
            <a:prstDash val="solid"/>
          </a:ln>
          <a:effectLst>
            <a:outerShdw blurRad="177800" dist="50800" dir="5400000" algn="bl" rotWithShape="0">
              <a:srgbClr val="0F264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920240"/>
            <a:ext cx="182880" cy="1325880"/>
          </a:xfrm>
          <a:prstGeom prst="rect">
            <a:avLst/>
          </a:prstGeom>
          <a:solidFill>
            <a:srgbClr val="DC143C"/>
          </a:solidFill>
          <a:ln/>
        </p:spPr>
      </p:sp>
      <p:sp>
        <p:nvSpPr>
          <p:cNvPr id="7" name="Shape 5"/>
          <p:cNvSpPr/>
          <p:nvPr/>
        </p:nvSpPr>
        <p:spPr>
          <a:xfrm>
            <a:off x="1280160" y="2103120"/>
            <a:ext cx="960120" cy="960120"/>
          </a:xfrm>
          <a:prstGeom prst="rect">
            <a:avLst/>
          </a:prstGeom>
          <a:solidFill>
            <a:srgbClr val="DC143C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237744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377440" y="212140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TIER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377440" y="237744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Client (Rich Client)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2377440" y="269748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+ TypeScript app on iOS &amp; Android.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UI, validation, local cache, offline support.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617720" y="3291840"/>
            <a:ext cx="365760" cy="164592"/>
          </a:xfrm>
          <a:prstGeom prst="ellipse">
            <a:avLst/>
          </a:prstGeom>
          <a:solidFill>
            <a:srgbClr val="9AA3B5">
              <a:alpha val="5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914400" y="3429000"/>
            <a:ext cx="77724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E"/>
            </a:solidFill>
            <a:prstDash val="solid"/>
          </a:ln>
          <a:effectLst>
            <a:outerShdw blurRad="177800" dist="50800" dir="5400000" algn="bl" rotWithShape="0">
              <a:srgbClr val="0F264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914400" y="3429000"/>
            <a:ext cx="182880" cy="132588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15" name="Shape 12"/>
          <p:cNvSpPr/>
          <p:nvPr/>
        </p:nvSpPr>
        <p:spPr>
          <a:xfrm>
            <a:off x="1280160" y="3611880"/>
            <a:ext cx="960120" cy="960120"/>
          </a:xfrm>
          <a:prstGeom prst="rect">
            <a:avLst/>
          </a:prstGeom>
          <a:solidFill>
            <a:srgbClr val="1A2B5F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480" y="3886200"/>
            <a:ext cx="411480" cy="4114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377440" y="363016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TIER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2377440" y="388620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REST API Server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2377440" y="420624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Express. Internal pipe-and-filter pipeline: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→ Auth → Authorization → Business Logic → Data Access → Output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4617720" y="4800600"/>
            <a:ext cx="365760" cy="164592"/>
          </a:xfrm>
          <a:prstGeom prst="ellipse">
            <a:avLst/>
          </a:prstGeom>
          <a:solidFill>
            <a:srgbClr val="9AA3B5">
              <a:alpha val="50000"/>
            </a:srgbClr>
          </a:solidFill>
          <a:ln/>
        </p:spPr>
      </p:sp>
      <p:sp>
        <p:nvSpPr>
          <p:cNvPr id="21" name="Shape 17"/>
          <p:cNvSpPr/>
          <p:nvPr/>
        </p:nvSpPr>
        <p:spPr>
          <a:xfrm>
            <a:off x="914400" y="4937760"/>
            <a:ext cx="77724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E"/>
            </a:solidFill>
            <a:prstDash val="solid"/>
          </a:ln>
          <a:effectLst>
            <a:outerShdw blurRad="177800" dist="50800" dir="5400000" algn="bl" rotWithShape="0">
              <a:srgbClr val="0F264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914400" y="4937760"/>
            <a:ext cx="182880" cy="1325880"/>
          </a:xfrm>
          <a:prstGeom prst="rect">
            <a:avLst/>
          </a:prstGeom>
          <a:solidFill>
            <a:srgbClr val="0F1F4A"/>
          </a:solidFill>
          <a:ln/>
        </p:spPr>
      </p:sp>
      <p:sp>
        <p:nvSpPr>
          <p:cNvPr id="23" name="Shape 19"/>
          <p:cNvSpPr/>
          <p:nvPr/>
        </p:nvSpPr>
        <p:spPr>
          <a:xfrm>
            <a:off x="1280160" y="5120640"/>
            <a:ext cx="960120" cy="960120"/>
          </a:xfrm>
          <a:prstGeom prst="rect">
            <a:avLst/>
          </a:prstGeom>
          <a:solidFill>
            <a:srgbClr val="0F1F4A"/>
          </a:solidFill>
          <a:ln/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4480" y="5394960"/>
            <a:ext cx="411480" cy="41148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2377440" y="513892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TIER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2377440" y="539496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PostgreSQL Databases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2377440" y="571500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AuthDB (credentials, sessions, biometric flags)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SharedExpenseDB (groups, expenses, splits, settlements)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9144000" y="1920240"/>
            <a:ext cx="2651760" cy="4572000"/>
          </a:xfrm>
          <a:prstGeom prst="rect">
            <a:avLst/>
          </a:prstGeom>
          <a:solidFill>
            <a:srgbClr val="2B3F75"/>
          </a:solidFill>
          <a:ln/>
          <a:effectLst>
            <a:outerShdw blurRad="177800" dist="50800" dir="5400000" algn="bl" rotWithShape="0">
              <a:srgbClr val="0F2640">
                <a:alpha val="10000"/>
              </a:srgbClr>
            </a:outerShdw>
          </a:effectLst>
        </p:spPr>
      </p:sp>
      <p:sp>
        <p:nvSpPr>
          <p:cNvPr id="29" name="Text 24"/>
          <p:cNvSpPr/>
          <p:nvPr/>
        </p:nvSpPr>
        <p:spPr>
          <a:xfrm>
            <a:off x="932688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9326880" y="2331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Services</a:t>
            </a:r>
            <a:endParaRPr lang="en-US" sz="1800" dirty="0"/>
          </a:p>
        </p:txBody>
      </p:sp>
      <p:sp>
        <p:nvSpPr>
          <p:cNvPr id="31" name="Shape 26"/>
          <p:cNvSpPr/>
          <p:nvPr/>
        </p:nvSpPr>
        <p:spPr>
          <a:xfrm>
            <a:off x="9326880" y="30175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6608" y="3136392"/>
            <a:ext cx="292608" cy="29260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966960" y="303580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API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9966960" y="331012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1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FX rates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9326880" y="41148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36608" y="4233672"/>
            <a:ext cx="292608" cy="292608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9966960" y="41330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Service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9966960" y="440740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1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FCM notifications</a:t>
            </a:r>
            <a:endParaRPr lang="en-US" sz="950" dirty="0"/>
          </a:p>
        </p:txBody>
      </p:sp>
      <p:sp>
        <p:nvSpPr>
          <p:cNvPr id="39" name="Shape 32"/>
          <p:cNvSpPr/>
          <p:nvPr/>
        </p:nvSpPr>
        <p:spPr>
          <a:xfrm>
            <a:off x="9326880" y="52120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36608" y="5330952"/>
            <a:ext cx="292608" cy="292608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9966960" y="52303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Payments</a:t>
            </a:r>
            <a:endParaRPr lang="en-US" sz="1100" dirty="0"/>
          </a:p>
        </p:txBody>
      </p:sp>
      <p:sp>
        <p:nvSpPr>
          <p:cNvPr id="42" name="Text 34"/>
          <p:cNvSpPr/>
          <p:nvPr/>
        </p:nvSpPr>
        <p:spPr>
          <a:xfrm>
            <a:off x="9966960" y="55046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1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design — records only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9392008-405F-4786-ACF9-2E74BBDECE5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39" y="1854267"/>
            <a:ext cx="5740691" cy="352314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7E2C943-4A95-4CF7-8E03-1F3049D7DF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2683628"/>
              </p:ext>
            </p:extLst>
          </p:nvPr>
        </p:nvGraphicFramePr>
        <p:xfrm>
          <a:off x="6503806" y="1803071"/>
          <a:ext cx="4752344" cy="359052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33751">
                  <a:extLst>
                    <a:ext uri="{9D8B030D-6E8A-4147-A177-3AD203B41FA5}">
                      <a16:colId xmlns:a16="http://schemas.microsoft.com/office/drawing/2014/main" val="1876213439"/>
                    </a:ext>
                  </a:extLst>
                </a:gridCol>
                <a:gridCol w="2718593">
                  <a:extLst>
                    <a:ext uri="{9D8B030D-6E8A-4147-A177-3AD203B41FA5}">
                      <a16:colId xmlns:a16="http://schemas.microsoft.com/office/drawing/2014/main" val="19956397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2000" dirty="0">
                          <a:effectLst/>
                        </a:rPr>
                        <a:t>Name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2000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Client–Server</a:t>
                      </a:r>
                      <a:endParaRPr lang="en-US" sz="2000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301913"/>
                  </a:ext>
                </a:extLst>
              </a:tr>
              <a:tr h="283453"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 </a:t>
                      </a:r>
                      <a:endParaRPr lang="en-US" sz="1100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6005685"/>
                  </a:ext>
                </a:extLst>
              </a:tr>
              <a:tr h="591247"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Description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Clients send requests to the server, and the server processes and returns results.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045466"/>
                  </a:ext>
                </a:extLst>
              </a:tr>
              <a:tr h="591247"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Example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Mobile app where users add and share expenses.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215775"/>
                  </a:ext>
                </a:extLst>
              </a:tr>
              <a:tr h="591247"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When used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Used in web and mobile apps with many users.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9941591"/>
                  </a:ext>
                </a:extLst>
              </a:tr>
              <a:tr h="591247"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Advantages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Easy to manage  Supports many users  Scalable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065712"/>
                  </a:ext>
                </a:extLst>
              </a:tr>
              <a:tr h="591247"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Disadvantages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Needs internet  Server failure affects all  Can be slow under heavy load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3297998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93966525-3338-4A5A-A4C9-A0F05D9F02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7375" y="28162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788D3757-8C11-4E1A-B4FE-8A096184DA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39" y="-46233"/>
            <a:ext cx="8763453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System Architecture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Pipe and Filter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architecture for efficient data processing.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Client-Server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architecture for communication between users and the server.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C076C2-4168-4CD0-A285-293E155CDE02}"/>
              </a:ext>
            </a:extLst>
          </p:cNvPr>
          <p:cNvSpPr txBox="1"/>
          <p:nvPr/>
        </p:nvSpPr>
        <p:spPr>
          <a:xfrm>
            <a:off x="121920" y="1288737"/>
            <a:ext cx="7660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kern="0" spc="600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1.Client _server Architecture 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0912097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8076A5C-97DA-4EB5-B9BF-B1FCF36AD83B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96" y="1240790"/>
            <a:ext cx="5219700" cy="437642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9CEA9BD-1807-4BEA-826F-FDB2338A9C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1833506"/>
              </p:ext>
            </p:extLst>
          </p:nvPr>
        </p:nvGraphicFramePr>
        <p:xfrm>
          <a:off x="6291072" y="1505711"/>
          <a:ext cx="5285232" cy="376863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42616">
                  <a:extLst>
                    <a:ext uri="{9D8B030D-6E8A-4147-A177-3AD203B41FA5}">
                      <a16:colId xmlns:a16="http://schemas.microsoft.com/office/drawing/2014/main" val="3860658066"/>
                    </a:ext>
                  </a:extLst>
                </a:gridCol>
                <a:gridCol w="2642616">
                  <a:extLst>
                    <a:ext uri="{9D8B030D-6E8A-4147-A177-3AD203B41FA5}">
                      <a16:colId xmlns:a16="http://schemas.microsoft.com/office/drawing/2014/main" val="298870078"/>
                    </a:ext>
                  </a:extLst>
                </a:gridCol>
              </a:tblGrid>
              <a:tr h="221512"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2000" dirty="0">
                          <a:effectLst/>
                        </a:rPr>
                        <a:t>Name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2000" dirty="0">
                          <a:effectLst/>
                        </a:rPr>
                        <a:t>Pipe-and-Filter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143598"/>
                  </a:ext>
                </a:extLst>
              </a:tr>
              <a:tr h="221512"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3080312"/>
                  </a:ext>
                </a:extLst>
              </a:tr>
              <a:tr h="702584"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Description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Data is processed in a sequence of steps (filters), where each filter transforms input and passes it to the next through pipes.</a:t>
                      </a:r>
                      <a:endParaRPr lang="en-US" sz="11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325574"/>
                  </a:ext>
                </a:extLst>
              </a:tr>
              <a:tr h="702584"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Example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Server request processing: validation → authentication → authorization → business logic → database → response.</a:t>
                      </a:r>
                      <a:endParaRPr lang="en-US" sz="11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661342"/>
                  </a:ext>
                </a:extLst>
              </a:tr>
              <a:tr h="462048"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When used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Used in data processing systems and backend request pipelines.</a:t>
                      </a:r>
                      <a:endParaRPr lang="en-US" sz="11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9015318"/>
                  </a:ext>
                </a:extLst>
              </a:tr>
              <a:tr h="221512"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Advantages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Simple and modular design </a:t>
                      </a:r>
                      <a:endParaRPr lang="en-US" sz="11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964748"/>
                  </a:ext>
                </a:extLst>
              </a:tr>
              <a:tr h="221512"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Easy to test and maintain</a:t>
                      </a:r>
                      <a:endParaRPr lang="en-US" sz="11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148287"/>
                  </a:ext>
                </a:extLst>
              </a:tr>
              <a:tr h="221512"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Reusable components</a:t>
                      </a:r>
                      <a:endParaRPr lang="en-US" sz="11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5369623"/>
                  </a:ext>
                </a:extLst>
              </a:tr>
              <a:tr h="221512"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Disadvantages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Not suitable for interactive systems </a:t>
                      </a:r>
                      <a:endParaRPr lang="en-US" sz="11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7507734"/>
                  </a:ext>
                </a:extLst>
              </a:tr>
              <a:tr h="221512"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Data format must be consistent  </a:t>
                      </a:r>
                      <a:endParaRPr lang="en-US" sz="11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9978147"/>
                  </a:ext>
                </a:extLst>
              </a:tr>
              <a:tr h="221512"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Can  add processing overhead</a:t>
                      </a:r>
                      <a:endParaRPr lang="en-US" sz="11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834415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5ACA829-A87F-44FF-8DBA-DECF7C31FE3D}"/>
              </a:ext>
            </a:extLst>
          </p:cNvPr>
          <p:cNvSpPr txBox="1"/>
          <p:nvPr/>
        </p:nvSpPr>
        <p:spPr>
          <a:xfrm>
            <a:off x="432448" y="257974"/>
            <a:ext cx="60950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kern="0" spc="600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2.PIPE-AND FILTER ARCHITECTURE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665721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Free-tier, open-source — zero budget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choice serves a specific SRS or design requirement.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27432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E"/>
            </a:solidFill>
            <a:prstDash val="solid"/>
          </a:ln>
          <a:effectLst>
            <a:outerShdw blurRad="177800" dist="50800" dir="5400000" algn="bl" rotWithShape="0">
              <a:srgbClr val="0F264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920240"/>
            <a:ext cx="2743200" cy="1097280"/>
          </a:xfrm>
          <a:prstGeom prst="rect">
            <a:avLst/>
          </a:prstGeom>
          <a:solidFill>
            <a:srgbClr val="DC143C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19456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1945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417320" y="2468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3154680"/>
            <a:ext cx="23774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0.74+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5.x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Navigation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expo-sqlite (offline)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expo-secure-store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410712" y="1920240"/>
            <a:ext cx="27432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E"/>
            </a:solidFill>
            <a:prstDash val="solid"/>
          </a:ln>
          <a:effectLst>
            <a:outerShdw blurRad="177800" dist="50800" dir="5400000" algn="bl" rotWithShape="0">
              <a:srgbClr val="0F264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10712" y="1920240"/>
            <a:ext cx="2743200" cy="1097280"/>
          </a:xfrm>
          <a:prstGeom prst="rect">
            <a:avLst/>
          </a:prstGeom>
          <a:solidFill>
            <a:srgbClr val="1A2B5F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5032" y="219456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25112" y="21945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325112" y="2468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639312" y="3154680"/>
            <a:ext cx="23774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20 LTS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4.x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5.x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 5.x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validation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318504" y="1920240"/>
            <a:ext cx="27432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E"/>
            </a:solidFill>
            <a:prstDash val="solid"/>
          </a:ln>
          <a:effectLst>
            <a:outerShdw blurRad="177800" dist="50800" dir="5400000" algn="bl" rotWithShape="0">
              <a:srgbClr val="0F264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318504" y="1920240"/>
            <a:ext cx="2743200" cy="1097280"/>
          </a:xfrm>
          <a:prstGeom prst="rect">
            <a:avLst/>
          </a:prstGeom>
          <a:solidFill>
            <a:srgbClr val="0F1F4A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2824" y="2194560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232904" y="21945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7232904" y="2468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547104" y="3154680"/>
            <a:ext cx="23774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15+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NUMERIC(12,2)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AuthDB + SharedExpenseDB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/ Neon free tier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backups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9226296" y="1920240"/>
            <a:ext cx="27432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E"/>
            </a:solidFill>
            <a:prstDash val="solid"/>
          </a:ln>
          <a:effectLst>
            <a:outerShdw blurRad="177800" dist="50800" dir="5400000" algn="bl" rotWithShape="0">
              <a:srgbClr val="0F264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226296" y="1920240"/>
            <a:ext cx="2743200" cy="1097280"/>
          </a:xfrm>
          <a:prstGeom prst="rect">
            <a:avLst/>
          </a:prstGeom>
          <a:solidFill>
            <a:srgbClr val="A01030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0616" y="2194560"/>
            <a:ext cx="502920" cy="5029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140696" y="21945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EXTRAS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10140696" y="2468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9454896" y="3154680"/>
            <a:ext cx="23774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4.x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FCM push (free)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Frankfurter currency API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ML Kit (OCR)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selections justified in the Physical Design Specification (Section 1.3).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45720"/>
            <a:ext cx="117348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kern="0" spc="600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Diagram — VaagBanda Core Domain</a:t>
            </a:r>
          </a:p>
          <a:p>
            <a:r>
              <a:rPr sz="1400" dirty="0">
                <a:solidFill>
                  <a:srgbClr val="5A6478"/>
                </a:solidFill>
              </a:rPr>
              <a:t>Seven classes model the entire application</a:t>
            </a:r>
          </a:p>
        </p:txBody>
      </p:sp>
      <p:pic>
        <p:nvPicPr>
          <p:cNvPr id="3" name="Picture 2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667512"/>
            <a:ext cx="7330440" cy="5961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59040" y="896111"/>
            <a:ext cx="4084320" cy="5716950"/>
          </a:xfrm>
          <a:prstGeom prst="rect">
            <a:avLst/>
          </a:prstGeom>
          <a:noFill/>
        </p:spPr>
        <p:txBody>
          <a:bodyPr wrap="square" lIns="91440" tIns="91440" rIns="91440" bIns="91440">
            <a:spAutoFit/>
          </a:bodyPr>
          <a:lstStyle/>
          <a:p>
            <a:pPr algn="l"/>
            <a:endParaRPr sz="750" b="1" dirty="0">
              <a:solidFill>
                <a:srgbClr val="DC143C"/>
              </a:solidFill>
            </a:endParaRPr>
          </a:p>
          <a:p>
            <a:pPr>
              <a:spcBef>
                <a:spcPts val="500"/>
              </a:spcBef>
            </a:pPr>
            <a:r>
              <a:rPr sz="1400" b="1" dirty="0">
                <a:solidFill>
                  <a:srgbClr val="0F1F4A"/>
                </a:solidFill>
              </a:rPr>
              <a:t>▸ </a:t>
            </a:r>
            <a:r>
              <a:rPr sz="1200" b="1" kern="0" spc="600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</a:p>
          <a:p>
            <a:pPr>
              <a:spcBef>
                <a:spcPts val="100"/>
              </a:spcBef>
            </a:pPr>
            <a:r>
              <a:rPr sz="1400" b="1" dirty="0">
                <a:solidFill>
                  <a:srgbClr val="0F1F4A"/>
                </a:solidFill>
              </a:rPr>
              <a:t>Central class. Stores hashed credentials and display info. Methods: register(), login(), </a:t>
            </a:r>
            <a:r>
              <a:rPr sz="1400" b="1" dirty="0" err="1">
                <a:solidFill>
                  <a:srgbClr val="0F1F4A"/>
                </a:solidFill>
              </a:rPr>
              <a:t>updateProfile</a:t>
            </a:r>
            <a:r>
              <a:rPr sz="1400" b="1" dirty="0">
                <a:solidFill>
                  <a:srgbClr val="0F1F4A"/>
                </a:solidFill>
              </a:rPr>
              <a:t>(). Connects to groups through GroupMember.</a:t>
            </a:r>
          </a:p>
          <a:p>
            <a:pPr>
              <a:spcBef>
                <a:spcPts val="500"/>
              </a:spcBef>
            </a:pPr>
            <a:r>
              <a:rPr sz="1400" b="1" dirty="0">
                <a:solidFill>
                  <a:srgbClr val="0F1F4A"/>
                </a:solidFill>
              </a:rPr>
              <a:t>▸ </a:t>
            </a:r>
            <a:r>
              <a:rPr sz="1200" b="1" kern="0" spc="600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&amp; GroupMember</a:t>
            </a:r>
          </a:p>
          <a:p>
            <a:pPr>
              <a:spcBef>
                <a:spcPts val="100"/>
              </a:spcBef>
            </a:pPr>
            <a:r>
              <a:rPr sz="1400" b="1" dirty="0">
                <a:solidFill>
                  <a:srgbClr val="0F1F4A"/>
                </a:solidFill>
              </a:rPr>
              <a:t>Group holds name, </a:t>
            </a:r>
            <a:r>
              <a:rPr sz="1400" b="1" dirty="0" err="1">
                <a:solidFill>
                  <a:srgbClr val="0F1F4A"/>
                </a:solidFill>
              </a:rPr>
              <a:t>defaultCurrency</a:t>
            </a:r>
            <a:r>
              <a:rPr sz="1400" b="1" dirty="0">
                <a:solidFill>
                  <a:srgbClr val="0F1F4A"/>
                </a:solidFill>
              </a:rPr>
              <a:t>, </a:t>
            </a:r>
            <a:r>
              <a:rPr sz="1400" b="1" dirty="0" err="1">
                <a:solidFill>
                  <a:srgbClr val="0F1F4A"/>
                </a:solidFill>
              </a:rPr>
              <a:t>createdBy</a:t>
            </a:r>
            <a:r>
              <a:rPr sz="1400" b="1" dirty="0">
                <a:solidFill>
                  <a:srgbClr val="0F1F4A"/>
                </a:solidFill>
              </a:rPr>
              <a:t>. GroupMember is the join table — it also carries the role (admin or member).</a:t>
            </a:r>
          </a:p>
          <a:p>
            <a:pPr>
              <a:spcBef>
                <a:spcPts val="500"/>
              </a:spcBef>
            </a:pPr>
            <a:r>
              <a:rPr sz="1400" b="1" dirty="0">
                <a:solidFill>
                  <a:srgbClr val="0F1F4A"/>
                </a:solidFill>
              </a:rPr>
              <a:t>▸ </a:t>
            </a:r>
            <a:r>
              <a:rPr sz="1200" b="1" kern="0" spc="600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</a:t>
            </a:r>
          </a:p>
          <a:p>
            <a:pPr>
              <a:spcBef>
                <a:spcPts val="100"/>
              </a:spcBef>
            </a:pPr>
            <a:r>
              <a:rPr sz="1400" b="1" dirty="0">
                <a:solidFill>
                  <a:srgbClr val="0F1F4A"/>
                </a:solidFill>
              </a:rPr>
              <a:t>Belongs to a Group. Records amount, </a:t>
            </a:r>
            <a:r>
              <a:rPr sz="1400" b="1" dirty="0" err="1">
                <a:solidFill>
                  <a:srgbClr val="0F1F4A"/>
                </a:solidFill>
              </a:rPr>
              <a:t>paidBy</a:t>
            </a:r>
            <a:r>
              <a:rPr sz="1400" b="1" dirty="0">
                <a:solidFill>
                  <a:srgbClr val="0F1F4A"/>
                </a:solidFill>
              </a:rPr>
              <a:t>, and </a:t>
            </a:r>
            <a:r>
              <a:rPr sz="1400" b="1" dirty="0" err="1">
                <a:solidFill>
                  <a:srgbClr val="0F1F4A"/>
                </a:solidFill>
              </a:rPr>
              <a:t>categoryId</a:t>
            </a:r>
            <a:r>
              <a:rPr sz="1400" b="1" dirty="0">
                <a:solidFill>
                  <a:srgbClr val="0F1F4A"/>
                </a:solidFill>
              </a:rPr>
              <a:t>. </a:t>
            </a:r>
            <a:r>
              <a:rPr sz="1400" b="1" dirty="0" err="1">
                <a:solidFill>
                  <a:srgbClr val="0F1F4A"/>
                </a:solidFill>
              </a:rPr>
              <a:t>splitEqually</a:t>
            </a:r>
            <a:r>
              <a:rPr sz="1400" b="1" dirty="0">
                <a:solidFill>
                  <a:srgbClr val="0F1F4A"/>
                </a:solidFill>
              </a:rPr>
              <a:t>() and </a:t>
            </a:r>
            <a:r>
              <a:rPr sz="1400" b="1" dirty="0" err="1">
                <a:solidFill>
                  <a:srgbClr val="0F1F4A"/>
                </a:solidFill>
              </a:rPr>
              <a:t>attachReceipt</a:t>
            </a:r>
            <a:r>
              <a:rPr sz="1400" b="1" dirty="0">
                <a:solidFill>
                  <a:srgbClr val="0F1F4A"/>
                </a:solidFill>
              </a:rPr>
              <a:t>() are the key methods.</a:t>
            </a:r>
          </a:p>
          <a:p>
            <a:pPr>
              <a:spcBef>
                <a:spcPts val="500"/>
              </a:spcBef>
            </a:pPr>
            <a:r>
              <a:rPr sz="1400" b="1" dirty="0">
                <a:solidFill>
                  <a:srgbClr val="0F1F4A"/>
                </a:solidFill>
              </a:rPr>
              <a:t>▸ </a:t>
            </a:r>
            <a:r>
              <a:rPr sz="1200" b="1" kern="0" spc="600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</a:p>
          <a:p>
            <a:pPr>
              <a:spcBef>
                <a:spcPts val="100"/>
              </a:spcBef>
            </a:pPr>
            <a:r>
              <a:rPr sz="1400" b="1" dirty="0">
                <a:solidFill>
                  <a:srgbClr val="0F1F4A"/>
                </a:solidFill>
              </a:rPr>
              <a:t>One row per member per expense. Stores </a:t>
            </a:r>
            <a:r>
              <a:rPr sz="1400" b="1" dirty="0" err="1">
                <a:solidFill>
                  <a:srgbClr val="0F1F4A"/>
                </a:solidFill>
              </a:rPr>
              <a:t>amountOwed</a:t>
            </a:r>
            <a:r>
              <a:rPr sz="1400" b="1" dirty="0">
                <a:solidFill>
                  <a:srgbClr val="0F1F4A"/>
                </a:solidFill>
              </a:rPr>
              <a:t>. Balance = SUM(Splits) minus SUM(Settlements) — never cached.</a:t>
            </a:r>
          </a:p>
          <a:p>
            <a:pPr>
              <a:spcBef>
                <a:spcPts val="500"/>
              </a:spcBef>
            </a:pPr>
            <a:r>
              <a:rPr sz="1400" b="1" dirty="0">
                <a:solidFill>
                  <a:srgbClr val="0F1F4A"/>
                </a:solidFill>
              </a:rPr>
              <a:t>▸ </a:t>
            </a:r>
            <a:r>
              <a:rPr sz="1200" b="1" kern="0" spc="600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</a:t>
            </a:r>
          </a:p>
          <a:p>
            <a:pPr>
              <a:spcBef>
                <a:spcPts val="100"/>
              </a:spcBef>
            </a:pPr>
            <a:r>
              <a:rPr sz="1400" b="1" dirty="0">
                <a:solidFill>
                  <a:srgbClr val="0F1F4A"/>
                </a:solidFill>
              </a:rPr>
              <a:t>Records an external payment. </a:t>
            </a:r>
            <a:r>
              <a:rPr sz="1400" b="1" dirty="0" err="1">
                <a:solidFill>
                  <a:srgbClr val="0F1F4A"/>
                </a:solidFill>
              </a:rPr>
              <a:t>validateAgainstBalance</a:t>
            </a:r>
            <a:r>
              <a:rPr sz="1400" b="1" dirty="0">
                <a:solidFill>
                  <a:srgbClr val="0F1F4A"/>
                </a:solidFill>
              </a:rPr>
              <a:t>() ensures you cannot over-pay.</a:t>
            </a:r>
          </a:p>
          <a:p>
            <a:pPr>
              <a:spcBef>
                <a:spcPts val="500"/>
              </a:spcBef>
            </a:pPr>
            <a:r>
              <a:rPr sz="1400" b="1" dirty="0">
                <a:solidFill>
                  <a:srgbClr val="0F1F4A"/>
                </a:solidFill>
              </a:rPr>
              <a:t>▸ </a:t>
            </a:r>
            <a:r>
              <a:rPr sz="1200" b="1" kern="0" spc="600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</a:p>
          <a:p>
            <a:pPr>
              <a:spcBef>
                <a:spcPts val="100"/>
              </a:spcBef>
            </a:pPr>
            <a:r>
              <a:rPr sz="1400" b="1" dirty="0">
                <a:solidFill>
                  <a:srgbClr val="0F1F4A"/>
                </a:solidFill>
              </a:rPr>
              <a:t>In-app notification per user. </a:t>
            </a:r>
            <a:r>
              <a:rPr sz="1400" b="1" dirty="0" err="1">
                <a:solidFill>
                  <a:srgbClr val="0F1F4A"/>
                </a:solidFill>
              </a:rPr>
              <a:t>dispatchPush</a:t>
            </a:r>
            <a:r>
              <a:rPr sz="1400" b="1" dirty="0">
                <a:solidFill>
                  <a:srgbClr val="0F1F4A"/>
                </a:solidFill>
              </a:rPr>
              <a:t>() triggers FCM for a mobile push.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Logically Separated Databases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data is isolated from business data — a security boundary, not a performance trick.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864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E"/>
            </a:solidFill>
            <a:prstDash val="solid"/>
          </a:ln>
          <a:effectLst>
            <a:outerShdw blurRad="177800" dist="50800" dir="5400000" algn="bl" rotWithShape="0">
              <a:srgbClr val="0F264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3400" y="1936650"/>
            <a:ext cx="5486400" cy="914400"/>
          </a:xfrm>
          <a:prstGeom prst="rect">
            <a:avLst/>
          </a:prstGeom>
          <a:solidFill>
            <a:srgbClr val="DC143C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1488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AuthDB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371600" y="2423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Session Data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77240" y="3017520"/>
            <a:ext cx="4937760" cy="713232"/>
          </a:xfrm>
          <a:prstGeom prst="rect">
            <a:avLst/>
          </a:prstGeom>
          <a:solidFill>
            <a:srgbClr val="F7F8FB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0120" y="3072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60120" y="334670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userId · email (unique) · password_hash · displayName · createdAt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77240" y="3858768"/>
            <a:ext cx="4937760" cy="713232"/>
          </a:xfrm>
          <a:prstGeom prst="rect">
            <a:avLst/>
          </a:prstGeom>
          <a:solidFill>
            <a:srgbClr val="F7F8FB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60120" y="39136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60120" y="41879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sessionId · userId → · token · expiresAt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777240" y="4700016"/>
            <a:ext cx="4937760" cy="713232"/>
          </a:xfrm>
          <a:prstGeom prst="rect">
            <a:avLst/>
          </a:prstGeom>
          <a:solidFill>
            <a:srgbClr val="F7F8FB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6012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BiometricAuth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60120" y="5029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userId · deviceId · enabled · updatedAt  (no raw biometric data)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77240" y="5541264"/>
            <a:ext cx="4937760" cy="713232"/>
          </a:xfrm>
          <a:prstGeom prst="rect">
            <a:avLst/>
          </a:prstGeom>
          <a:solidFill>
            <a:srgbClr val="F7F8FB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60120" y="55961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PasswordReset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60120" y="58704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resetId · userId · reset_token · expiresAt · usedAt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172200" y="1920240"/>
            <a:ext cx="54864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E"/>
            </a:solidFill>
            <a:prstDash val="solid"/>
          </a:ln>
          <a:effectLst>
            <a:outerShdw blurRad="177800" dist="50800" dir="5400000" algn="bl" rotWithShape="0">
              <a:srgbClr val="0F264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172200" y="1920240"/>
            <a:ext cx="5486400" cy="914400"/>
          </a:xfrm>
          <a:prstGeom prst="rect">
            <a:avLst/>
          </a:prstGeom>
          <a:solidFill>
            <a:srgbClr val="0F1F4A"/>
          </a:solidFill>
          <a:ln/>
        </p:spPr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2148840"/>
            <a:ext cx="457200" cy="4572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040880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SharedExpenseDB</a:t>
            </a:r>
            <a:endParaRPr lang="en-US" sz="1800" dirty="0"/>
          </a:p>
        </p:txBody>
      </p:sp>
      <p:sp>
        <p:nvSpPr>
          <p:cNvPr id="26" name="Text 22"/>
          <p:cNvSpPr/>
          <p:nvPr/>
        </p:nvSpPr>
        <p:spPr>
          <a:xfrm>
            <a:off x="7040880" y="2423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1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Groups, Expenses &amp; Settlements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6446520" y="3017520"/>
            <a:ext cx="4937760" cy="713232"/>
          </a:xfrm>
          <a:prstGeom prst="rect">
            <a:avLst/>
          </a:prstGeom>
          <a:solidFill>
            <a:srgbClr val="F7F8FB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629400" y="3072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6629400" y="334670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groupId · name · default_currency · created_by → · createdAt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6446520" y="3858768"/>
            <a:ext cx="4937760" cy="713232"/>
          </a:xfrm>
          <a:prstGeom prst="rect">
            <a:avLst/>
          </a:prstGeom>
          <a:solidFill>
            <a:srgbClr val="F7F8FB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629400" y="39136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GroupMembers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6629400" y="41879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groupMemberId · userId → · groupId → · role · joinedAt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6446520" y="4700016"/>
            <a:ext cx="4937760" cy="713232"/>
          </a:xfrm>
          <a:prstGeom prst="rect">
            <a:avLst/>
          </a:prstGeom>
          <a:solidFill>
            <a:srgbClr val="F7F8FB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6294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</a:t>
            </a: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6629400" y="5029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expenseId · groupId → · paid_by → · amount · description · date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6446520" y="5541264"/>
            <a:ext cx="4937760" cy="713232"/>
          </a:xfrm>
          <a:prstGeom prst="rect">
            <a:avLst/>
          </a:prstGeom>
          <a:solidFill>
            <a:srgbClr val="F7F8FB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6629400" y="55961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+ Settlements</a:t>
            </a:r>
            <a:endParaRPr lang="en-US" sz="1200" dirty="0"/>
          </a:p>
        </p:txBody>
      </p:sp>
      <p:sp>
        <p:nvSpPr>
          <p:cNvPr id="38" name="Text 34"/>
          <p:cNvSpPr/>
          <p:nvPr/>
        </p:nvSpPr>
        <p:spPr>
          <a:xfrm>
            <a:off x="6629400" y="58704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Splits = debt recorded. Settlements = payment made. Two tables for audit trail.</a:t>
            </a:r>
            <a:endParaRPr lang="en-US" sz="9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C93D883-202F-E4E9-3868-52BDF0903839}"/>
              </a:ext>
            </a:extLst>
          </p:cNvPr>
          <p:cNvSpPr txBox="1"/>
          <p:nvPr/>
        </p:nvSpPr>
        <p:spPr>
          <a:xfrm>
            <a:off x="9390046" y="836700"/>
            <a:ext cx="192204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Security Boundary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9DC0F0FA-15A0-55F8-A133-0327199D0F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9199" y="1684422"/>
            <a:ext cx="4973622" cy="1189471"/>
          </a:xfrm>
          <a:prstGeom prst="rect">
            <a:avLst/>
          </a:prstGeom>
        </p:spPr>
      </p:pic>
      <p:pic>
        <p:nvPicPr>
          <p:cNvPr id="20" name="Picture 19" descr="A black screen with grey text&#10;&#10;AI-generated content may be incorrect.">
            <a:extLst>
              <a:ext uri="{FF2B5EF4-FFF2-40B4-BE49-F238E27FC236}">
                <a16:creationId xmlns:a16="http://schemas.microsoft.com/office/drawing/2014/main" id="{E4368AC4-6288-B9A7-9181-40E559984D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9199" y="3119488"/>
            <a:ext cx="4973622" cy="1189471"/>
          </a:xfrm>
          <a:prstGeom prst="rect">
            <a:avLst/>
          </a:prstGeom>
        </p:spPr>
      </p:pic>
      <p:pic>
        <p:nvPicPr>
          <p:cNvPr id="22" name="Picture 21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CCEB402A-09C5-9EAE-DE39-10E1B7945A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9199" y="4554553"/>
            <a:ext cx="4973622" cy="118947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E0408B40-83B1-E548-B804-FD7950B6DFD2}"/>
              </a:ext>
            </a:extLst>
          </p:cNvPr>
          <p:cNvSpPr txBox="1"/>
          <p:nvPr/>
        </p:nvSpPr>
        <p:spPr>
          <a:xfrm>
            <a:off x="231607" y="729734"/>
            <a:ext cx="95019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solidFill>
                  <a:srgbClr val="1A2B5F"/>
                </a:solidFill>
                <a:latin typeface="Poppins" panose="00000500000000000000" pitchFamily="2" charset="0"/>
              </a:rPr>
              <a:t>AUTHDB </a:t>
            </a:r>
            <a:r>
              <a:rPr lang="en-US" sz="2800" b="1" i="0" u="none" strike="noStrike" dirty="0">
                <a:solidFill>
                  <a:srgbClr val="1A2B5F"/>
                </a:solidFill>
                <a:effectLst/>
                <a:latin typeface="Poppins" panose="00000500000000000000" pitchFamily="2" charset="0"/>
              </a:rPr>
              <a:t> </a:t>
            </a:r>
            <a:r>
              <a:rPr lang="en-US" sz="2800" b="1" i="0" u="none" strike="noStrike" dirty="0">
                <a:solidFill>
                  <a:srgbClr val="DC143C"/>
                </a:solidFill>
                <a:effectLst/>
                <a:latin typeface="Poppins" panose="00000500000000000000" pitchFamily="2" charset="0"/>
              </a:rPr>
              <a:t>— AUTHENTICATION DATABASE</a:t>
            </a:r>
            <a:endParaRPr lang="en-US" sz="2800" b="0" dirty="0">
              <a:effectLst/>
            </a:endParaRPr>
          </a:p>
        </p:txBody>
      </p:sp>
      <p:pic>
        <p:nvPicPr>
          <p:cNvPr id="25" name="Picture 2">
            <a:extLst>
              <a:ext uri="{FF2B5EF4-FFF2-40B4-BE49-F238E27FC236}">
                <a16:creationId xmlns:a16="http://schemas.microsoft.com/office/drawing/2014/main" id="{C4424E8F-73D6-1BB5-DE28-20CDD3C435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7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943572CE-64EE-8FAD-8F8E-28D0E10B8253}"/>
              </a:ext>
            </a:extLst>
          </p:cNvPr>
          <p:cNvSpPr txBox="1"/>
          <p:nvPr/>
        </p:nvSpPr>
        <p:spPr>
          <a:xfrm>
            <a:off x="144378" y="1796932"/>
            <a:ext cx="10840453" cy="1603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710" marR="4350385">
              <a:lnSpc>
                <a:spcPct val="126000"/>
              </a:lnSpc>
              <a:spcBef>
                <a:spcPts val="2950"/>
              </a:spcBef>
              <a:spcAft>
                <a:spcPts val="0"/>
              </a:spcAft>
            </a:pPr>
            <a:r>
              <a:rPr lang="en-US" sz="2000" dirty="0" err="1">
                <a:solidFill>
                  <a:srgbClr val="38465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AuthDB</a:t>
            </a:r>
            <a:r>
              <a:rPr lang="en-US" sz="2000" spc="-90" dirty="0">
                <a:solidFill>
                  <a:srgbClr val="38465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 </a:t>
            </a:r>
            <a:r>
              <a:rPr lang="en-US" sz="2000" dirty="0">
                <a:solidFill>
                  <a:srgbClr val="38465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is</a:t>
            </a:r>
            <a:r>
              <a:rPr lang="en-US" sz="2000" spc="-80" dirty="0">
                <a:solidFill>
                  <a:srgbClr val="38465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 </a:t>
            </a:r>
            <a:r>
              <a:rPr lang="en-US" sz="2000" dirty="0">
                <a:solidFill>
                  <a:srgbClr val="38465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dedicated</a:t>
            </a:r>
            <a:r>
              <a:rPr lang="en-US" sz="2000" spc="-95" dirty="0">
                <a:solidFill>
                  <a:srgbClr val="38465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 </a:t>
            </a:r>
            <a:r>
              <a:rPr lang="en-US" sz="2000" dirty="0">
                <a:solidFill>
                  <a:srgbClr val="38465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solely</a:t>
            </a:r>
            <a:r>
              <a:rPr lang="en-US" sz="2000" spc="-60" dirty="0">
                <a:solidFill>
                  <a:srgbClr val="38465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 </a:t>
            </a:r>
            <a:r>
              <a:rPr lang="en-US" sz="2000" dirty="0">
                <a:solidFill>
                  <a:srgbClr val="38465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to</a:t>
            </a:r>
            <a:r>
              <a:rPr lang="en-US" sz="2000" spc="-50" dirty="0">
                <a:solidFill>
                  <a:srgbClr val="38465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 </a:t>
            </a:r>
            <a:r>
              <a:rPr lang="en-US" sz="2000" b="1" dirty="0">
                <a:solidFill>
                  <a:srgbClr val="384652"/>
                </a:solidFill>
                <a:effectLst/>
                <a:latin typeface="Calibri" panose="020F050202020403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user</a:t>
            </a:r>
            <a:r>
              <a:rPr lang="en-US" sz="2000" b="1" spc="-20" dirty="0">
                <a:solidFill>
                  <a:srgbClr val="384652"/>
                </a:solidFill>
                <a:effectLst/>
                <a:latin typeface="Calibri" panose="020F050202020403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 </a:t>
            </a:r>
            <a:r>
              <a:rPr lang="en-US" sz="2000" b="1" dirty="0">
                <a:solidFill>
                  <a:srgbClr val="384652"/>
                </a:solidFill>
                <a:effectLst/>
                <a:latin typeface="Calibri" panose="020F050202020403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identity and</a:t>
            </a:r>
            <a:r>
              <a:rPr lang="en-US" sz="2000" b="1" spc="-65" dirty="0">
                <a:solidFill>
                  <a:srgbClr val="384652"/>
                </a:solidFill>
                <a:effectLst/>
                <a:latin typeface="Calibri" panose="020F050202020403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 </a:t>
            </a:r>
            <a:r>
              <a:rPr lang="en-US" sz="2000" b="1" dirty="0">
                <a:solidFill>
                  <a:srgbClr val="384652"/>
                </a:solidFill>
                <a:effectLst/>
                <a:latin typeface="Calibri" panose="020F050202020403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secure access</a:t>
            </a:r>
            <a:r>
              <a:rPr lang="en-US" sz="2000" dirty="0">
                <a:solidFill>
                  <a:srgbClr val="38465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. It handles login flows, session persistence, biometric preferences, and password recovery </a:t>
            </a:r>
            <a:r>
              <a:rPr lang="en-US" sz="2000" dirty="0">
                <a:solidFill>
                  <a:srgbClr val="384652"/>
                </a:solidFill>
                <a:effectLst/>
                <a:latin typeface="Calibri" panose="020F050202020403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— </a:t>
            </a:r>
            <a:r>
              <a:rPr lang="en-US" sz="2000" dirty="0">
                <a:solidFill>
                  <a:srgbClr val="38465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completely</a:t>
            </a:r>
            <a:r>
              <a:rPr lang="en-US" sz="2000" spc="-80" dirty="0">
                <a:solidFill>
                  <a:srgbClr val="38465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 </a:t>
            </a:r>
            <a:r>
              <a:rPr lang="en-US" sz="2000" dirty="0">
                <a:solidFill>
                  <a:srgbClr val="38465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isolated</a:t>
            </a:r>
            <a:r>
              <a:rPr lang="en-US" sz="2000" spc="-80" dirty="0">
                <a:solidFill>
                  <a:srgbClr val="38465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 </a:t>
            </a:r>
            <a:r>
              <a:rPr lang="en-US" sz="2000" dirty="0">
                <a:solidFill>
                  <a:srgbClr val="38465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from</a:t>
            </a:r>
            <a:r>
              <a:rPr lang="en-US" sz="2000" spc="-75" dirty="0">
                <a:solidFill>
                  <a:srgbClr val="38465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 </a:t>
            </a:r>
            <a:r>
              <a:rPr lang="en-US" sz="2000" dirty="0">
                <a:solidFill>
                  <a:srgbClr val="38465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business</a:t>
            </a:r>
            <a:r>
              <a:rPr lang="en-US" sz="2000" spc="-80" dirty="0">
                <a:solidFill>
                  <a:srgbClr val="38465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 </a:t>
            </a:r>
            <a:r>
              <a:rPr lang="en-US" sz="2000" dirty="0">
                <a:solidFill>
                  <a:srgbClr val="38465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logic.</a:t>
            </a:r>
            <a:endParaRPr lang="en-US" sz="2000" dirty="0">
              <a:effectLst/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2566A909-FD4A-835B-D764-2D3FA33E9E44}"/>
              </a:ext>
            </a:extLst>
          </p:cNvPr>
          <p:cNvSpPr/>
          <p:nvPr/>
        </p:nvSpPr>
        <p:spPr>
          <a:xfrm>
            <a:off x="421105" y="3959817"/>
            <a:ext cx="4973622" cy="1189471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0055" marR="8509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Separation</a:t>
            </a:r>
            <a:r>
              <a:rPr lang="en-US" sz="1800" spc="-15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 </a:t>
            </a:r>
            <a:r>
              <a:rPr lang="en-US" sz="18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of</a:t>
            </a:r>
            <a:r>
              <a:rPr lang="en-US" sz="1800" spc="-25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 </a:t>
            </a:r>
            <a:r>
              <a:rPr lang="en-US" sz="18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auth from</a:t>
            </a:r>
            <a:r>
              <a:rPr lang="en-US" sz="1800" spc="-3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 </a:t>
            </a:r>
            <a:r>
              <a:rPr lang="en-US" sz="18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app</a:t>
            </a:r>
            <a:r>
              <a:rPr lang="en-US" sz="1800" spc="-15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 </a:t>
            </a:r>
            <a:r>
              <a:rPr lang="en-US" sz="18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data</a:t>
            </a:r>
            <a:r>
              <a:rPr lang="en-US" sz="1800" spc="-25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 </a:t>
            </a:r>
            <a:r>
              <a:rPr lang="en-US" sz="18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is</a:t>
            </a:r>
            <a:r>
              <a:rPr lang="en-US" sz="1800" spc="-25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 </a:t>
            </a:r>
            <a:r>
              <a:rPr lang="en-US" sz="18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a</a:t>
            </a:r>
            <a:r>
              <a:rPr lang="en-US" sz="1800" spc="-5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 </a:t>
            </a:r>
            <a:r>
              <a:rPr lang="en-US" sz="18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core security</a:t>
            </a:r>
            <a:r>
              <a:rPr lang="en-US" sz="1800" spc="-25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 </a:t>
            </a:r>
            <a:r>
              <a:rPr lang="en-US" sz="18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best</a:t>
            </a:r>
            <a:r>
              <a:rPr lang="en-US" sz="1800" spc="-4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 </a:t>
            </a:r>
            <a:r>
              <a:rPr lang="en-US" sz="18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practice,</a:t>
            </a:r>
            <a:r>
              <a:rPr lang="en-US" sz="1800" spc="-5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 </a:t>
            </a:r>
            <a:r>
              <a:rPr lang="en-US" sz="18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limiting</a:t>
            </a:r>
            <a:r>
              <a:rPr lang="en-US" sz="1800" spc="-35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 </a:t>
            </a:r>
            <a:r>
              <a:rPr lang="en-US" sz="18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blast</a:t>
            </a:r>
            <a:r>
              <a:rPr lang="en-US" sz="1800" spc="-4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 </a:t>
            </a:r>
            <a:r>
              <a:rPr lang="en-US" sz="18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radius</a:t>
            </a:r>
            <a:r>
              <a:rPr lang="en-US" sz="1800" spc="-2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 </a:t>
            </a:r>
            <a:r>
              <a:rPr lang="en-US" sz="18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in</a:t>
            </a:r>
            <a:r>
              <a:rPr lang="en-US" sz="1800" spc="-1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 </a:t>
            </a:r>
            <a:r>
              <a:rPr lang="en-US" sz="18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case of a breach.</a:t>
            </a:r>
          </a:p>
        </p:txBody>
      </p:sp>
    </p:spTree>
    <p:extLst>
      <p:ext uri="{BB962C8B-B14F-4D97-AF65-F5344CB8AC3E}">
        <p14:creationId xmlns:p14="http://schemas.microsoft.com/office/powerpoint/2010/main" val="15305906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663CE9F-D9A9-A51F-8364-AEECF5A4EA7C}"/>
              </a:ext>
            </a:extLst>
          </p:cNvPr>
          <p:cNvSpPr txBox="1"/>
          <p:nvPr/>
        </p:nvSpPr>
        <p:spPr>
          <a:xfrm>
            <a:off x="2080651" y="316289"/>
            <a:ext cx="862664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2400" b="1" i="0" u="none" strike="noStrike" dirty="0">
                <a:solidFill>
                  <a:srgbClr val="1A2B5F"/>
                </a:solidFill>
                <a:effectLst/>
                <a:latin typeface="Poppins" panose="00000500000000000000" pitchFamily="2" charset="0"/>
              </a:rPr>
              <a:t>SHAREDEXPENSEDB </a:t>
            </a:r>
            <a:r>
              <a:rPr lang="en-US" sz="2400" b="1" i="0" u="none" strike="noStrike" dirty="0">
                <a:solidFill>
                  <a:srgbClr val="DC143C"/>
                </a:solidFill>
                <a:effectLst/>
                <a:latin typeface="Poppins" panose="00000500000000000000" pitchFamily="2" charset="0"/>
              </a:rPr>
              <a:t>— CORE EXPENSE SYSTEM</a:t>
            </a:r>
            <a:endParaRPr lang="en-US" sz="2400" b="0" dirty="0">
              <a:effectLst/>
            </a:endParaRPr>
          </a:p>
          <a:p>
            <a:br>
              <a:rPr lang="en-US" sz="2000" dirty="0"/>
            </a:br>
            <a:endParaRPr lang="en-US" sz="20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46C2414-0776-9E89-A6D5-566D524D54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7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A758CD3-F40E-244A-3D22-8A86782FD224}"/>
              </a:ext>
            </a:extLst>
          </p:cNvPr>
          <p:cNvSpPr txBox="1"/>
          <p:nvPr/>
        </p:nvSpPr>
        <p:spPr>
          <a:xfrm>
            <a:off x="493295" y="962404"/>
            <a:ext cx="11494168" cy="762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710" marR="0">
              <a:lnSpc>
                <a:spcPct val="126000"/>
              </a:lnSpc>
              <a:spcBef>
                <a:spcPts val="1990"/>
              </a:spcBef>
              <a:spcAft>
                <a:spcPts val="0"/>
              </a:spcAft>
            </a:pPr>
            <a:r>
              <a:rPr lang="en-US" dirty="0">
                <a:solidFill>
                  <a:srgbClr val="38465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The</a:t>
            </a:r>
            <a:r>
              <a:rPr lang="en-US" spc="-65" dirty="0">
                <a:solidFill>
                  <a:srgbClr val="38465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 </a:t>
            </a:r>
            <a:r>
              <a:rPr lang="en-US" dirty="0">
                <a:solidFill>
                  <a:srgbClr val="38465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primary</a:t>
            </a:r>
            <a:r>
              <a:rPr lang="en-US" spc="-35" dirty="0">
                <a:solidFill>
                  <a:srgbClr val="38465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 </a:t>
            </a:r>
            <a:r>
              <a:rPr lang="en-US" dirty="0">
                <a:solidFill>
                  <a:srgbClr val="38465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application</a:t>
            </a:r>
            <a:r>
              <a:rPr lang="en-US" spc="-70" dirty="0">
                <a:solidFill>
                  <a:srgbClr val="38465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 </a:t>
            </a:r>
            <a:r>
              <a:rPr lang="en-US" dirty="0">
                <a:solidFill>
                  <a:srgbClr val="38465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database.</a:t>
            </a:r>
            <a:r>
              <a:rPr lang="en-US" spc="-60" dirty="0">
                <a:solidFill>
                  <a:srgbClr val="38465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 </a:t>
            </a:r>
            <a:r>
              <a:rPr lang="en-US" dirty="0">
                <a:solidFill>
                  <a:srgbClr val="38465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Every</a:t>
            </a:r>
            <a:r>
              <a:rPr lang="en-US" spc="-45" dirty="0">
                <a:solidFill>
                  <a:srgbClr val="38465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 </a:t>
            </a:r>
            <a:r>
              <a:rPr lang="en-US" dirty="0">
                <a:solidFill>
                  <a:srgbClr val="38465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user-facing</a:t>
            </a:r>
            <a:r>
              <a:rPr lang="en-US" spc="-65" dirty="0">
                <a:solidFill>
                  <a:srgbClr val="38465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 </a:t>
            </a:r>
            <a:r>
              <a:rPr lang="en-US" dirty="0">
                <a:solidFill>
                  <a:srgbClr val="38465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feature</a:t>
            </a:r>
            <a:r>
              <a:rPr lang="en-US" spc="-35" dirty="0">
                <a:solidFill>
                  <a:srgbClr val="38465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 </a:t>
            </a:r>
            <a:r>
              <a:rPr lang="en-US" dirty="0">
                <a:solidFill>
                  <a:srgbClr val="384652"/>
                </a:solidFill>
                <a:effectLst/>
                <a:latin typeface="Calibri" panose="020F050202020403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— </a:t>
            </a:r>
            <a:r>
              <a:rPr lang="en-US" dirty="0">
                <a:solidFill>
                  <a:srgbClr val="38465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creating</a:t>
            </a:r>
            <a:r>
              <a:rPr lang="en-US" spc="-55" dirty="0">
                <a:solidFill>
                  <a:srgbClr val="38465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 </a:t>
            </a:r>
            <a:r>
              <a:rPr lang="en-US" dirty="0">
                <a:solidFill>
                  <a:srgbClr val="38465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groups,</a:t>
            </a:r>
            <a:r>
              <a:rPr lang="en-US" spc="-35" dirty="0">
                <a:solidFill>
                  <a:srgbClr val="38465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 </a:t>
            </a:r>
            <a:r>
              <a:rPr lang="en-US" dirty="0">
                <a:solidFill>
                  <a:srgbClr val="38465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logging</a:t>
            </a:r>
            <a:r>
              <a:rPr lang="en-US" spc="-30" dirty="0">
                <a:solidFill>
                  <a:srgbClr val="38465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 </a:t>
            </a:r>
            <a:r>
              <a:rPr lang="en-US" dirty="0">
                <a:solidFill>
                  <a:srgbClr val="38465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expenses,</a:t>
            </a:r>
            <a:r>
              <a:rPr lang="en-US" spc="-60" dirty="0">
                <a:solidFill>
                  <a:srgbClr val="38465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 </a:t>
            </a:r>
            <a:r>
              <a:rPr lang="en-US" dirty="0">
                <a:solidFill>
                  <a:srgbClr val="38465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splitting</a:t>
            </a:r>
            <a:r>
              <a:rPr lang="en-US" spc="-80" dirty="0">
                <a:solidFill>
                  <a:srgbClr val="38465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 </a:t>
            </a:r>
            <a:r>
              <a:rPr lang="en-US" dirty="0">
                <a:solidFill>
                  <a:srgbClr val="38465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bills,</a:t>
            </a:r>
            <a:r>
              <a:rPr lang="en-US" spc="-40" dirty="0">
                <a:solidFill>
                  <a:srgbClr val="38465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 </a:t>
            </a:r>
            <a:r>
              <a:rPr lang="en-US" dirty="0">
                <a:solidFill>
                  <a:srgbClr val="38465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recording payments </a:t>
            </a:r>
            <a:r>
              <a:rPr lang="en-US" dirty="0">
                <a:solidFill>
                  <a:srgbClr val="384652"/>
                </a:solidFill>
                <a:effectLst/>
                <a:latin typeface="Calibri" panose="020F050202020403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— </a:t>
            </a:r>
            <a:r>
              <a:rPr lang="en-US" dirty="0">
                <a:solidFill>
                  <a:srgbClr val="38465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is backed</a:t>
            </a:r>
            <a:r>
              <a:rPr lang="en-US" spc="-5" dirty="0">
                <a:solidFill>
                  <a:srgbClr val="38465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 </a:t>
            </a:r>
            <a:r>
              <a:rPr lang="en-US" dirty="0">
                <a:solidFill>
                  <a:srgbClr val="38465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by this database.</a:t>
            </a:r>
            <a:endParaRPr lang="en-US" dirty="0">
              <a:effectLst/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</a:endParaRPr>
          </a:p>
        </p:txBody>
      </p:sp>
      <p:pic>
        <p:nvPicPr>
          <p:cNvPr id="12" name="image7.png">
            <a:extLst>
              <a:ext uri="{FF2B5EF4-FFF2-40B4-BE49-F238E27FC236}">
                <a16:creationId xmlns:a16="http://schemas.microsoft.com/office/drawing/2014/main" id="{7B89AE91-F4D0-50A0-AB93-50CAC4D659A1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523880" y="2337655"/>
            <a:ext cx="792896" cy="603836"/>
          </a:xfrm>
          <a:prstGeom prst="rect">
            <a:avLst/>
          </a:prstGeom>
        </p:spPr>
      </p:pic>
      <p:pic>
        <p:nvPicPr>
          <p:cNvPr id="13" name="image8.png">
            <a:extLst>
              <a:ext uri="{FF2B5EF4-FFF2-40B4-BE49-F238E27FC236}">
                <a16:creationId xmlns:a16="http://schemas.microsoft.com/office/drawing/2014/main" id="{F0A63133-512D-FA17-1B07-8CDE00182432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977210" y="2337655"/>
            <a:ext cx="706872" cy="60383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EFDB2C5-E7E0-6539-D414-492FE6143623}"/>
              </a:ext>
            </a:extLst>
          </p:cNvPr>
          <p:cNvSpPr txBox="1"/>
          <p:nvPr/>
        </p:nvSpPr>
        <p:spPr>
          <a:xfrm>
            <a:off x="1588358" y="3128208"/>
            <a:ext cx="4805614" cy="8053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710" marR="0">
              <a:spcBef>
                <a:spcPts val="505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384652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</a:rPr>
              <a:t>Groups</a:t>
            </a:r>
            <a:r>
              <a:rPr lang="en-US" sz="2000" b="1" spc="-40" dirty="0">
                <a:solidFill>
                  <a:srgbClr val="384652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</a:rPr>
              <a:t> </a:t>
            </a:r>
            <a:r>
              <a:rPr lang="en-US" sz="2000" b="1" dirty="0">
                <a:solidFill>
                  <a:srgbClr val="384652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</a:rPr>
              <a:t>&amp;</a:t>
            </a:r>
            <a:r>
              <a:rPr lang="en-US" sz="2000" b="1" spc="-25" dirty="0">
                <a:solidFill>
                  <a:srgbClr val="384652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</a:rPr>
              <a:t> </a:t>
            </a:r>
            <a:r>
              <a:rPr lang="en-US" sz="2000" b="1" spc="-10" dirty="0">
                <a:solidFill>
                  <a:srgbClr val="384652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</a:rPr>
              <a:t>Members</a:t>
            </a:r>
            <a:endParaRPr lang="en-US" sz="2000" b="1" dirty="0">
              <a:effectLst/>
              <a:latin typeface="Tahoma" panose="020B0604030504040204" pitchFamily="34" charset="0"/>
              <a:ea typeface="Tahoma" panose="020B0604030504040204" pitchFamily="34" charset="0"/>
            </a:endParaRPr>
          </a:p>
          <a:p>
            <a:pPr marL="92710" marR="0">
              <a:spcBef>
                <a:spcPts val="960"/>
              </a:spcBef>
              <a:spcAft>
                <a:spcPts val="0"/>
              </a:spcAft>
            </a:pPr>
            <a:r>
              <a:rPr lang="en-US" sz="1600" dirty="0">
                <a:solidFill>
                  <a:srgbClr val="38465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Groups,</a:t>
            </a:r>
            <a:r>
              <a:rPr lang="en-US" sz="1600" spc="10" dirty="0">
                <a:solidFill>
                  <a:srgbClr val="38465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 </a:t>
            </a:r>
            <a:r>
              <a:rPr lang="en-US" sz="1600" spc="-10" dirty="0" err="1">
                <a:solidFill>
                  <a:srgbClr val="38465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GroupMembers</a:t>
            </a:r>
            <a:endParaRPr lang="en-US" sz="1600" dirty="0">
              <a:effectLst/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28EF05-2B74-5871-594C-F32346E4C8AA}"/>
              </a:ext>
            </a:extLst>
          </p:cNvPr>
          <p:cNvSpPr txBox="1"/>
          <p:nvPr/>
        </p:nvSpPr>
        <p:spPr>
          <a:xfrm>
            <a:off x="7074569" y="3041714"/>
            <a:ext cx="6241380" cy="774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710" marR="0">
              <a:spcBef>
                <a:spcPts val="505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384652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</a:rPr>
              <a:t>Expenses</a:t>
            </a:r>
            <a:r>
              <a:rPr lang="en-US" sz="2000" b="1" spc="-85" dirty="0">
                <a:solidFill>
                  <a:srgbClr val="384652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</a:rPr>
              <a:t> </a:t>
            </a:r>
            <a:r>
              <a:rPr lang="en-US" sz="2000" b="1" dirty="0">
                <a:solidFill>
                  <a:srgbClr val="384652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</a:rPr>
              <a:t>&amp;</a:t>
            </a:r>
            <a:r>
              <a:rPr lang="en-US" sz="2000" b="1" spc="-45" dirty="0">
                <a:solidFill>
                  <a:srgbClr val="384652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</a:rPr>
              <a:t> </a:t>
            </a:r>
            <a:r>
              <a:rPr lang="en-US" sz="2000" b="1" spc="-10" dirty="0">
                <a:solidFill>
                  <a:srgbClr val="384652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</a:rPr>
              <a:t>Splits</a:t>
            </a:r>
            <a:endParaRPr lang="en-US" sz="2000" b="1" dirty="0">
              <a:effectLst/>
              <a:latin typeface="Tahoma" panose="020B0604030504040204" pitchFamily="34" charset="0"/>
              <a:ea typeface="Tahoma" panose="020B0604030504040204" pitchFamily="34" charset="0"/>
            </a:endParaRPr>
          </a:p>
          <a:p>
            <a:pPr marL="92710" marR="0">
              <a:spcBef>
                <a:spcPts val="960"/>
              </a:spcBef>
              <a:spcAft>
                <a:spcPts val="0"/>
              </a:spcAft>
            </a:pPr>
            <a:r>
              <a:rPr lang="en-US" sz="1600" dirty="0">
                <a:solidFill>
                  <a:srgbClr val="38465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Expenses,</a:t>
            </a:r>
            <a:r>
              <a:rPr lang="en-US" sz="1600" spc="-30" dirty="0">
                <a:solidFill>
                  <a:srgbClr val="38465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 </a:t>
            </a:r>
            <a:r>
              <a:rPr lang="en-US" sz="1600" spc="-10" dirty="0">
                <a:solidFill>
                  <a:srgbClr val="38465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Splits</a:t>
            </a:r>
            <a:endParaRPr lang="en-US" sz="1600" dirty="0">
              <a:effectLst/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</a:endParaRPr>
          </a:p>
        </p:txBody>
      </p:sp>
      <p:pic>
        <p:nvPicPr>
          <p:cNvPr id="18" name="image9.png">
            <a:extLst>
              <a:ext uri="{FF2B5EF4-FFF2-40B4-BE49-F238E27FC236}">
                <a16:creationId xmlns:a16="http://schemas.microsoft.com/office/drawing/2014/main" id="{C5FF8590-153F-4F45-B512-34EFA037FEF8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523880" y="4237694"/>
            <a:ext cx="792896" cy="57595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D42C923-D89B-6380-1F82-9B11E15677EF}"/>
              </a:ext>
            </a:extLst>
          </p:cNvPr>
          <p:cNvSpPr txBox="1"/>
          <p:nvPr/>
        </p:nvSpPr>
        <p:spPr>
          <a:xfrm>
            <a:off x="1825793" y="5115509"/>
            <a:ext cx="6659478" cy="774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710" marR="0">
              <a:spcBef>
                <a:spcPts val="500"/>
              </a:spcBef>
              <a:spcAft>
                <a:spcPts val="0"/>
              </a:spcAft>
            </a:pPr>
            <a:r>
              <a:rPr lang="en-US" sz="2000" b="1" spc="-10" dirty="0">
                <a:solidFill>
                  <a:srgbClr val="384652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</a:rPr>
              <a:t>Settlements</a:t>
            </a:r>
            <a:endParaRPr lang="en-US" sz="2000" b="1" dirty="0">
              <a:effectLst/>
              <a:latin typeface="Tahoma" panose="020B0604030504040204" pitchFamily="34" charset="0"/>
              <a:ea typeface="Tahoma" panose="020B0604030504040204" pitchFamily="34" charset="0"/>
            </a:endParaRPr>
          </a:p>
          <a:p>
            <a:pPr marL="92710" marR="0">
              <a:spcBef>
                <a:spcPts val="965"/>
              </a:spcBef>
              <a:spcAft>
                <a:spcPts val="0"/>
              </a:spcAft>
            </a:pPr>
            <a:r>
              <a:rPr lang="en-US" sz="1600" spc="-10" dirty="0">
                <a:solidFill>
                  <a:srgbClr val="38465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Settlements</a:t>
            </a:r>
            <a:endParaRPr lang="en-US" sz="1600" dirty="0">
              <a:effectLst/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</a:endParaRPr>
          </a:p>
        </p:txBody>
      </p:sp>
      <p:pic>
        <p:nvPicPr>
          <p:cNvPr id="21" name="image10.png">
            <a:extLst>
              <a:ext uri="{FF2B5EF4-FFF2-40B4-BE49-F238E27FC236}">
                <a16:creationId xmlns:a16="http://schemas.microsoft.com/office/drawing/2014/main" id="{63A841D5-8B11-A08C-01B0-6A11AD179892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7977210" y="4143282"/>
            <a:ext cx="571675" cy="672943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A597493-EAD2-B7D7-8FCF-7229AAB1DE2C}"/>
              </a:ext>
            </a:extLst>
          </p:cNvPr>
          <p:cNvSpPr txBox="1"/>
          <p:nvPr/>
        </p:nvSpPr>
        <p:spPr>
          <a:xfrm>
            <a:off x="6865520" y="5223606"/>
            <a:ext cx="6659478" cy="774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710" marR="0">
              <a:spcBef>
                <a:spcPts val="50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384652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</a:rPr>
              <a:t>Notifications</a:t>
            </a:r>
            <a:r>
              <a:rPr lang="en-US" sz="2000" b="1" spc="-105" dirty="0">
                <a:solidFill>
                  <a:srgbClr val="384652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</a:rPr>
              <a:t> </a:t>
            </a:r>
            <a:r>
              <a:rPr lang="en-US" sz="2000" b="1" dirty="0">
                <a:solidFill>
                  <a:srgbClr val="384652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</a:rPr>
              <a:t>&amp;</a:t>
            </a:r>
            <a:r>
              <a:rPr lang="en-US" sz="2000" b="1" spc="-90" dirty="0">
                <a:solidFill>
                  <a:srgbClr val="384652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</a:rPr>
              <a:t> </a:t>
            </a:r>
            <a:r>
              <a:rPr lang="en-US" sz="2000" b="1" spc="-10" dirty="0">
                <a:solidFill>
                  <a:srgbClr val="384652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</a:rPr>
              <a:t>Categories</a:t>
            </a:r>
            <a:endParaRPr lang="en-US" sz="2000" b="1" dirty="0">
              <a:effectLst/>
              <a:latin typeface="Tahoma" panose="020B0604030504040204" pitchFamily="34" charset="0"/>
              <a:ea typeface="Tahoma" panose="020B0604030504040204" pitchFamily="34" charset="0"/>
            </a:endParaRPr>
          </a:p>
          <a:p>
            <a:pPr marL="92710" marR="0">
              <a:spcBef>
                <a:spcPts val="965"/>
              </a:spcBef>
              <a:spcAft>
                <a:spcPts val="0"/>
              </a:spcAft>
            </a:pPr>
            <a:r>
              <a:rPr lang="en-US" sz="1600" dirty="0">
                <a:solidFill>
                  <a:srgbClr val="38465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Notifications,</a:t>
            </a:r>
            <a:r>
              <a:rPr lang="en-US" sz="1600" spc="-70" dirty="0">
                <a:solidFill>
                  <a:srgbClr val="38465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 </a:t>
            </a:r>
            <a:r>
              <a:rPr lang="en-US" sz="1600" spc="-10" dirty="0">
                <a:solidFill>
                  <a:srgbClr val="38465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Categories</a:t>
            </a:r>
            <a:endParaRPr lang="en-US" sz="1600" dirty="0">
              <a:effectLst/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42248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1">
            <a:extLst>
              <a:ext uri="{FF2B5EF4-FFF2-40B4-BE49-F238E27FC236}">
                <a16:creationId xmlns:a16="http://schemas.microsoft.com/office/drawing/2014/main" id="{DD33B5BE-F907-4D65-C0F7-B39B5469152A}"/>
              </a:ext>
            </a:extLst>
          </p:cNvPr>
          <p:cNvSpPr/>
          <p:nvPr/>
        </p:nvSpPr>
        <p:spPr>
          <a:xfrm>
            <a:off x="548640" y="71323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F4A"/>
                </a:solidFill>
                <a:latin typeface="Georgia" pitchFamily="34" charset="0"/>
              </a:rPr>
              <a:t>ER DIAGRAM AND : SCHEMA RELATIONSHIPS</a:t>
            </a:r>
            <a:endParaRPr lang="en-US" sz="26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4DF3465-4F13-B16E-4CAC-FADEF89B338F}"/>
              </a:ext>
            </a:extLst>
          </p:cNvPr>
          <p:cNvCxnSpPr/>
          <p:nvPr/>
        </p:nvCxnSpPr>
        <p:spPr>
          <a:xfrm>
            <a:off x="469236" y="713232"/>
            <a:ext cx="0" cy="54864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object 2">
            <a:extLst>
              <a:ext uri="{FF2B5EF4-FFF2-40B4-BE49-F238E27FC236}">
                <a16:creationId xmlns:a16="http://schemas.microsoft.com/office/drawing/2014/main" id="{EB2D9004-1F46-602C-8F5F-38EA9F2178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47736" y="1455699"/>
            <a:ext cx="419806" cy="4288055"/>
          </a:xfrm>
          <a:prstGeom prst="rect">
            <a:avLst/>
          </a:prstGeom>
        </p:spPr>
      </p:pic>
      <p:sp>
        <p:nvSpPr>
          <p:cNvPr id="13" name="object 23">
            <a:extLst>
              <a:ext uri="{FF2B5EF4-FFF2-40B4-BE49-F238E27FC236}">
                <a16:creationId xmlns:a16="http://schemas.microsoft.com/office/drawing/2014/main" id="{99C294B3-81D2-31D3-C85B-89918732C835}"/>
              </a:ext>
            </a:extLst>
          </p:cNvPr>
          <p:cNvSpPr txBox="1"/>
          <p:nvPr/>
        </p:nvSpPr>
        <p:spPr>
          <a:xfrm>
            <a:off x="7677445" y="2016946"/>
            <a:ext cx="4259178" cy="236923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400" spc="110" dirty="0">
                <a:solidFill>
                  <a:srgbClr val="0C1F4D"/>
                </a:solidFill>
                <a:latin typeface="Arial MT"/>
                <a:cs typeface="Arial MT"/>
              </a:rPr>
              <a:t>Relationship</a:t>
            </a:r>
            <a:r>
              <a:rPr sz="2400" spc="170" dirty="0">
                <a:solidFill>
                  <a:srgbClr val="0C1F4D"/>
                </a:solidFill>
                <a:latin typeface="Arial MT"/>
                <a:cs typeface="Arial MT"/>
              </a:rPr>
              <a:t> </a:t>
            </a:r>
            <a:r>
              <a:rPr sz="2400" spc="165" dirty="0">
                <a:solidFill>
                  <a:srgbClr val="0E1F4D"/>
                </a:solidFill>
                <a:latin typeface="Arial MT"/>
                <a:cs typeface="Arial MT"/>
              </a:rPr>
              <a:t>Mopping</a:t>
            </a:r>
            <a:endParaRPr sz="2400" dirty="0">
              <a:latin typeface="Arial MT"/>
              <a:cs typeface="Arial MT"/>
            </a:endParaRPr>
          </a:p>
          <a:p>
            <a:pPr marL="342900" marR="0" lvl="0" indent="-342900">
              <a:spcBef>
                <a:spcPts val="1345"/>
              </a:spcBef>
              <a:spcAft>
                <a:spcPts val="0"/>
              </a:spcAft>
              <a:buClr>
                <a:srgbClr val="384652"/>
              </a:buClr>
              <a:buSzPts val="1000"/>
              <a:buFont typeface="Calibri" panose="020F0502020204030204" pitchFamily="34" charset="0"/>
              <a:buChar char="•"/>
              <a:tabLst>
                <a:tab pos="5553710" algn="l"/>
                <a:tab pos="5554345" algn="l"/>
              </a:tabLst>
            </a:pPr>
            <a:r>
              <a:rPr lang="en-US" sz="1800" b="1" dirty="0">
                <a:solidFill>
                  <a:srgbClr val="38465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entury Gothic" panose="020B0502020202020204" pitchFamily="34" charset="0"/>
              </a:rPr>
              <a:t>Users</a:t>
            </a:r>
            <a:r>
              <a:rPr lang="en-US" sz="1800" b="1" spc="285" dirty="0">
                <a:solidFill>
                  <a:srgbClr val="38465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entury Gothic" panose="020B050202020202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entury Gothic" panose="020B0502020202020204" pitchFamily="34" charset="0"/>
              </a:rPr>
              <a:t>↔</a:t>
            </a:r>
            <a:r>
              <a:rPr lang="en-US" sz="1800" spc="22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entury Gothic" panose="020B0502020202020204" pitchFamily="34" charset="0"/>
              </a:rPr>
              <a:t> </a:t>
            </a:r>
            <a:r>
              <a:rPr lang="en-US" sz="1800" b="1" dirty="0">
                <a:solidFill>
                  <a:srgbClr val="38465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entury Gothic" panose="020B0502020202020204" pitchFamily="34" charset="0"/>
              </a:rPr>
              <a:t>Groups</a:t>
            </a:r>
            <a:r>
              <a:rPr lang="en-US" sz="1800" b="1" spc="250" dirty="0">
                <a:solidFill>
                  <a:srgbClr val="38465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entury Gothic" panose="020B0502020202020204" pitchFamily="34" charset="0"/>
              </a:rPr>
              <a:t> </a:t>
            </a:r>
            <a:r>
              <a:rPr lang="en-US" sz="1800" dirty="0">
                <a:solidFill>
                  <a:srgbClr val="384652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Century Gothic" panose="020B0502020202020204" pitchFamily="34" charset="0"/>
              </a:rPr>
              <a:t>via</a:t>
            </a:r>
            <a:r>
              <a:rPr lang="en-US" sz="1800" spc="145" dirty="0">
                <a:solidFill>
                  <a:srgbClr val="384652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Century Gothic" panose="020B0502020202020204" pitchFamily="34" charset="0"/>
              </a:rPr>
              <a:t> </a:t>
            </a:r>
            <a:r>
              <a:rPr lang="en-US" sz="1800" spc="-10" dirty="0" err="1">
                <a:solidFill>
                  <a:srgbClr val="384652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Century Gothic" panose="020B0502020202020204" pitchFamily="34" charset="0"/>
              </a:rPr>
              <a:t>GroupMembers</a:t>
            </a:r>
            <a:endParaRPr lang="en-US" sz="18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Century Gothic" panose="020B0502020202020204" pitchFamily="34" charset="0"/>
            </a:endParaRPr>
          </a:p>
          <a:p>
            <a:pPr marL="342900" marR="0" lvl="0" indent="-342900">
              <a:spcBef>
                <a:spcPts val="320"/>
              </a:spcBef>
              <a:spcAft>
                <a:spcPts val="0"/>
              </a:spcAft>
              <a:buClr>
                <a:srgbClr val="384652"/>
              </a:buClr>
              <a:buSzPts val="1000"/>
              <a:buFont typeface="Calibri" panose="020F0502020204030204" pitchFamily="34" charset="0"/>
              <a:buChar char="•"/>
              <a:tabLst>
                <a:tab pos="5553710" algn="l"/>
                <a:tab pos="5554345" algn="l"/>
              </a:tabLst>
            </a:pPr>
            <a:r>
              <a:rPr lang="en-US" sz="1800" b="1" dirty="0">
                <a:solidFill>
                  <a:srgbClr val="38465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entury Gothic" panose="020B0502020202020204" pitchFamily="34" charset="0"/>
              </a:rPr>
              <a:t>Groups</a:t>
            </a:r>
            <a:r>
              <a:rPr lang="en-US" sz="1800" b="1" spc="340" dirty="0">
                <a:solidFill>
                  <a:srgbClr val="38465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entury Gothic" panose="020B0502020202020204" pitchFamily="34" charset="0"/>
              </a:rPr>
              <a:t> </a:t>
            </a:r>
            <a:r>
              <a:rPr lang="en-US" sz="1800" b="1" dirty="0">
                <a:solidFill>
                  <a:srgbClr val="38465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entury Gothic" panose="020B0502020202020204" pitchFamily="34" charset="0"/>
              </a:rPr>
              <a:t>→</a:t>
            </a:r>
            <a:r>
              <a:rPr lang="en-US" sz="1800" b="1" spc="360" dirty="0">
                <a:solidFill>
                  <a:srgbClr val="38465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entury Gothic" panose="020B0502020202020204" pitchFamily="34" charset="0"/>
              </a:rPr>
              <a:t> </a:t>
            </a:r>
            <a:r>
              <a:rPr lang="en-US" sz="1800" b="1" dirty="0">
                <a:solidFill>
                  <a:srgbClr val="38465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entury Gothic" panose="020B0502020202020204" pitchFamily="34" charset="0"/>
              </a:rPr>
              <a:t>Expenses</a:t>
            </a:r>
            <a:r>
              <a:rPr lang="en-US" sz="1800" b="1" spc="370" dirty="0">
                <a:solidFill>
                  <a:srgbClr val="38465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entury Gothic" panose="020B0502020202020204" pitchFamily="34" charset="0"/>
              </a:rPr>
              <a:t> </a:t>
            </a:r>
            <a:r>
              <a:rPr lang="en-US" sz="1800" spc="-20" dirty="0">
                <a:solidFill>
                  <a:srgbClr val="384652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Century Gothic" panose="020B0502020202020204" pitchFamily="34" charset="0"/>
              </a:rPr>
              <a:t>(1:M)</a:t>
            </a:r>
            <a:endParaRPr lang="en-US" sz="18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Century Gothic" panose="020B0502020202020204" pitchFamily="34" charset="0"/>
            </a:endParaRPr>
          </a:p>
          <a:p>
            <a:pPr marL="342900" marR="0" lvl="0" indent="-342900">
              <a:spcBef>
                <a:spcPts val="335"/>
              </a:spcBef>
              <a:spcAft>
                <a:spcPts val="0"/>
              </a:spcAft>
              <a:buClr>
                <a:srgbClr val="384652"/>
              </a:buClr>
              <a:buSzPts val="1000"/>
              <a:buFont typeface="Calibri" panose="020F0502020204030204" pitchFamily="34" charset="0"/>
              <a:buChar char="•"/>
              <a:tabLst>
                <a:tab pos="5553710" algn="l"/>
                <a:tab pos="5554345" algn="l"/>
              </a:tabLst>
            </a:pPr>
            <a:r>
              <a:rPr lang="en-US" sz="1800" b="1" dirty="0">
                <a:solidFill>
                  <a:srgbClr val="38465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entury Gothic" panose="020B0502020202020204" pitchFamily="34" charset="0"/>
              </a:rPr>
              <a:t>Expenses</a:t>
            </a:r>
            <a:r>
              <a:rPr lang="en-US" sz="1800" b="1" spc="340" dirty="0">
                <a:solidFill>
                  <a:srgbClr val="38465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entury Gothic" panose="020B0502020202020204" pitchFamily="34" charset="0"/>
              </a:rPr>
              <a:t> </a:t>
            </a:r>
            <a:r>
              <a:rPr lang="en-US" sz="1800" b="1" dirty="0">
                <a:solidFill>
                  <a:srgbClr val="38465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entury Gothic" panose="020B0502020202020204" pitchFamily="34" charset="0"/>
              </a:rPr>
              <a:t>→</a:t>
            </a:r>
            <a:r>
              <a:rPr lang="en-US" sz="1800" b="1" spc="340" dirty="0">
                <a:solidFill>
                  <a:srgbClr val="38465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entury Gothic" panose="020B0502020202020204" pitchFamily="34" charset="0"/>
              </a:rPr>
              <a:t> </a:t>
            </a:r>
            <a:r>
              <a:rPr lang="en-US" sz="1800" b="1" dirty="0">
                <a:solidFill>
                  <a:srgbClr val="38465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entury Gothic" panose="020B0502020202020204" pitchFamily="34" charset="0"/>
              </a:rPr>
              <a:t>Splits</a:t>
            </a:r>
            <a:r>
              <a:rPr lang="en-US" sz="1800" b="1" spc="330" dirty="0">
                <a:solidFill>
                  <a:srgbClr val="38465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entury Gothic" panose="020B0502020202020204" pitchFamily="34" charset="0"/>
              </a:rPr>
              <a:t> </a:t>
            </a:r>
            <a:r>
              <a:rPr lang="en-US" sz="1800" spc="-20" dirty="0">
                <a:solidFill>
                  <a:srgbClr val="384652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Century Gothic" panose="020B0502020202020204" pitchFamily="34" charset="0"/>
              </a:rPr>
              <a:t>(1:M)</a:t>
            </a:r>
            <a:endParaRPr lang="en-US" sz="18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Century Gothic" panose="020B0502020202020204" pitchFamily="34" charset="0"/>
            </a:endParaRPr>
          </a:p>
          <a:p>
            <a:pPr marL="342900" marR="0" lvl="0" indent="-342900">
              <a:spcBef>
                <a:spcPts val="320"/>
              </a:spcBef>
              <a:spcAft>
                <a:spcPts val="0"/>
              </a:spcAft>
              <a:buClr>
                <a:srgbClr val="384652"/>
              </a:buClr>
              <a:buSzPts val="1000"/>
              <a:buFont typeface="Calibri" panose="020F0502020204030204" pitchFamily="34" charset="0"/>
              <a:buChar char="•"/>
              <a:tabLst>
                <a:tab pos="5553710" algn="l"/>
                <a:tab pos="5554345" algn="l"/>
              </a:tabLst>
            </a:pPr>
            <a:r>
              <a:rPr lang="en-US" sz="1800" b="1" dirty="0">
                <a:solidFill>
                  <a:srgbClr val="38465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entury Gothic" panose="020B0502020202020204" pitchFamily="34" charset="0"/>
              </a:rPr>
              <a:t>Users</a:t>
            </a:r>
            <a:r>
              <a:rPr lang="en-US" sz="1800" b="1" spc="240" dirty="0">
                <a:solidFill>
                  <a:srgbClr val="38465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entury Gothic" panose="020B0502020202020204" pitchFamily="34" charset="0"/>
              </a:rPr>
              <a:t> </a:t>
            </a:r>
            <a:r>
              <a:rPr lang="en-US" sz="1800" b="1" dirty="0">
                <a:solidFill>
                  <a:srgbClr val="38465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entury Gothic" panose="020B0502020202020204" pitchFamily="34" charset="0"/>
              </a:rPr>
              <a:t>→</a:t>
            </a:r>
            <a:r>
              <a:rPr lang="en-US" sz="1800" b="1" spc="180" dirty="0">
                <a:solidFill>
                  <a:srgbClr val="38465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entury Gothic" panose="020B0502020202020204" pitchFamily="34" charset="0"/>
              </a:rPr>
              <a:t> </a:t>
            </a:r>
            <a:r>
              <a:rPr lang="en-US" sz="1800" b="1" dirty="0">
                <a:solidFill>
                  <a:srgbClr val="38465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entury Gothic" panose="020B0502020202020204" pitchFamily="34" charset="0"/>
              </a:rPr>
              <a:t>Settlements</a:t>
            </a:r>
            <a:r>
              <a:rPr lang="en-US" sz="1800" b="1" spc="265" dirty="0">
                <a:solidFill>
                  <a:srgbClr val="38465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entury Gothic" panose="020B0502020202020204" pitchFamily="34" charset="0"/>
              </a:rPr>
              <a:t> </a:t>
            </a:r>
            <a:r>
              <a:rPr lang="en-US" sz="1800" dirty="0">
                <a:solidFill>
                  <a:srgbClr val="384652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Century Gothic" panose="020B0502020202020204" pitchFamily="34" charset="0"/>
              </a:rPr>
              <a:t>(payer</a:t>
            </a:r>
            <a:r>
              <a:rPr lang="en-US" sz="1800" spc="85" dirty="0">
                <a:solidFill>
                  <a:srgbClr val="384652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Century Gothic" panose="020B0502020202020204" pitchFamily="34" charset="0"/>
              </a:rPr>
              <a:t> </a:t>
            </a:r>
            <a:r>
              <a:rPr lang="en-US" sz="1800" dirty="0">
                <a:solidFill>
                  <a:srgbClr val="384652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Century Gothic" panose="020B0502020202020204" pitchFamily="34" charset="0"/>
              </a:rPr>
              <a:t>&amp;</a:t>
            </a:r>
            <a:r>
              <a:rPr lang="en-US" sz="1800" spc="100" dirty="0">
                <a:solidFill>
                  <a:srgbClr val="384652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Century Gothic" panose="020B0502020202020204" pitchFamily="34" charset="0"/>
              </a:rPr>
              <a:t> </a:t>
            </a:r>
            <a:r>
              <a:rPr lang="en-US" sz="1800" spc="-10" dirty="0">
                <a:solidFill>
                  <a:srgbClr val="384652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Century Gothic" panose="020B0502020202020204" pitchFamily="34" charset="0"/>
              </a:rPr>
              <a:t>payee)</a:t>
            </a:r>
            <a:endParaRPr lang="en-US" sz="18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Century Gothic" panose="020B0502020202020204" pitchFamily="34" charset="0"/>
            </a:endParaRPr>
          </a:p>
          <a:p>
            <a:pPr marL="342900" marR="0" lvl="0" indent="-342900">
              <a:spcBef>
                <a:spcPts val="325"/>
              </a:spcBef>
              <a:spcAft>
                <a:spcPts val="0"/>
              </a:spcAft>
              <a:buClr>
                <a:srgbClr val="384652"/>
              </a:buClr>
              <a:buSzPts val="1000"/>
              <a:buFont typeface="Calibri" panose="020F0502020204030204" pitchFamily="34" charset="0"/>
              <a:buChar char="•"/>
              <a:tabLst>
                <a:tab pos="5553710" algn="l"/>
                <a:tab pos="5554345" algn="l"/>
              </a:tabLst>
            </a:pPr>
            <a:r>
              <a:rPr lang="en-US" sz="1800" b="1" dirty="0">
                <a:solidFill>
                  <a:srgbClr val="38465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entury Gothic" panose="020B0502020202020204" pitchFamily="34" charset="0"/>
              </a:rPr>
              <a:t>Expenses</a:t>
            </a:r>
            <a:r>
              <a:rPr lang="en-US" sz="1800" b="1" spc="365" dirty="0">
                <a:solidFill>
                  <a:srgbClr val="38465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entury Gothic" panose="020B0502020202020204" pitchFamily="34" charset="0"/>
              </a:rPr>
              <a:t> </a:t>
            </a:r>
            <a:r>
              <a:rPr lang="en-US" sz="1800" b="1" dirty="0">
                <a:solidFill>
                  <a:srgbClr val="38465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entury Gothic" panose="020B0502020202020204" pitchFamily="34" charset="0"/>
              </a:rPr>
              <a:t>→</a:t>
            </a:r>
            <a:r>
              <a:rPr lang="en-US" sz="1800" b="1" spc="350" dirty="0">
                <a:solidFill>
                  <a:srgbClr val="38465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entury Gothic" panose="020B0502020202020204" pitchFamily="34" charset="0"/>
              </a:rPr>
              <a:t> </a:t>
            </a:r>
            <a:r>
              <a:rPr lang="en-US" sz="1800" b="1" dirty="0">
                <a:solidFill>
                  <a:srgbClr val="38465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entury Gothic" panose="020B0502020202020204" pitchFamily="34" charset="0"/>
              </a:rPr>
              <a:t>Categories</a:t>
            </a:r>
            <a:r>
              <a:rPr lang="en-US" sz="1800" b="1" spc="355" dirty="0">
                <a:solidFill>
                  <a:srgbClr val="38465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entury Gothic" panose="020B0502020202020204" pitchFamily="34" charset="0"/>
              </a:rPr>
              <a:t> </a:t>
            </a:r>
            <a:r>
              <a:rPr lang="en-US" sz="1800" spc="-10" dirty="0">
                <a:solidFill>
                  <a:srgbClr val="384652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Century Gothic" panose="020B0502020202020204" pitchFamily="34" charset="0"/>
              </a:rPr>
              <a:t>(lookup)</a:t>
            </a:r>
            <a:endParaRPr lang="en-US" sz="18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Century Gothic" panose="020B0502020202020204" pitchFamily="34" charset="0"/>
            </a:endParaRPr>
          </a:p>
        </p:txBody>
      </p:sp>
      <p:pic>
        <p:nvPicPr>
          <p:cNvPr id="14" name="image15.png">
            <a:extLst>
              <a:ext uri="{FF2B5EF4-FFF2-40B4-BE49-F238E27FC236}">
                <a16:creationId xmlns:a16="http://schemas.microsoft.com/office/drawing/2014/main" id="{48B9BDD1-805F-A490-44C0-DE8602B0F87D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74727" y="1455699"/>
            <a:ext cx="6568057" cy="437783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09A7670-F3BF-A470-514B-B5BAEF8C14C5}"/>
              </a:ext>
            </a:extLst>
          </p:cNvPr>
          <p:cNvSpPr txBox="1"/>
          <p:nvPr/>
        </p:nvSpPr>
        <p:spPr>
          <a:xfrm>
            <a:off x="3046997" y="3222181"/>
            <a:ext cx="6093994" cy="413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6720" marR="50292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EEECE1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 </a:t>
            </a:r>
            <a:endParaRPr lang="en-US" sz="2400" dirty="0">
              <a:effectLst/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E472005-E31D-1823-6D6D-EE1811865466}"/>
              </a:ext>
            </a:extLst>
          </p:cNvPr>
          <p:cNvSpPr/>
          <p:nvPr/>
        </p:nvSpPr>
        <p:spPr>
          <a:xfrm>
            <a:off x="7339263" y="4607848"/>
            <a:ext cx="4740441" cy="935198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>
              <a:spcBef>
                <a:spcPts val="45"/>
              </a:spcBef>
              <a:spcAft>
                <a:spcPts val="0"/>
              </a:spcAft>
            </a:pPr>
            <a:r>
              <a:rPr lang="en-US" sz="1800" dirty="0">
                <a:solidFill>
                  <a:srgbClr val="EEECE1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 </a:t>
            </a:r>
            <a:endParaRPr lang="en-US" sz="1800" dirty="0">
              <a:effectLst/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</a:endParaRPr>
          </a:p>
          <a:p>
            <a:pPr marL="426720" marR="50292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tx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All</a:t>
            </a:r>
            <a:r>
              <a:rPr lang="en-US" sz="1600" spc="-75" dirty="0">
                <a:solidFill>
                  <a:schemeClr val="tx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 </a:t>
            </a:r>
            <a:r>
              <a:rPr lang="en-US" sz="1600" dirty="0">
                <a:solidFill>
                  <a:schemeClr val="tx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foreign</a:t>
            </a:r>
            <a:r>
              <a:rPr lang="en-US" sz="1600" spc="-75" dirty="0">
                <a:solidFill>
                  <a:schemeClr val="tx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 </a:t>
            </a:r>
            <a:r>
              <a:rPr lang="en-US" sz="1600" dirty="0">
                <a:solidFill>
                  <a:schemeClr val="tx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keys</a:t>
            </a:r>
            <a:r>
              <a:rPr lang="en-US" sz="1600" spc="-70" dirty="0">
                <a:solidFill>
                  <a:schemeClr val="tx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 </a:t>
            </a:r>
            <a:r>
              <a:rPr lang="en-US" sz="1600" dirty="0">
                <a:solidFill>
                  <a:schemeClr val="tx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enforce</a:t>
            </a:r>
            <a:r>
              <a:rPr lang="en-US" sz="1600" spc="-75" dirty="0">
                <a:solidFill>
                  <a:schemeClr val="tx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 </a:t>
            </a:r>
            <a:r>
              <a:rPr lang="en-US" sz="1600" dirty="0">
                <a:solidFill>
                  <a:schemeClr val="tx2"/>
                </a:solidFill>
                <a:effectLst/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</a:rPr>
              <a:t>referential integrity at the database level.</a:t>
            </a:r>
          </a:p>
          <a:p>
            <a:pPr marL="426720" marR="50292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endParaRPr lang="en-US" sz="1600" dirty="0">
              <a:effectLst/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</a:endParaRPr>
          </a:p>
        </p:txBody>
      </p:sp>
      <p:pic>
        <p:nvPicPr>
          <p:cNvPr id="21" name="Graphic 20" descr="Right pointing backhand index with solid fill">
            <a:extLst>
              <a:ext uri="{FF2B5EF4-FFF2-40B4-BE49-F238E27FC236}">
                <a16:creationId xmlns:a16="http://schemas.microsoft.com/office/drawing/2014/main" id="{F815E1CB-3EC9-E5E9-2815-C02BD95CC5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32331" y="4793387"/>
            <a:ext cx="353170" cy="282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9651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9467" y="73152"/>
            <a:ext cx="117348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kern="0" spc="600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Diagram — User Registration</a:t>
            </a:r>
          </a:p>
          <a:p>
            <a:r>
              <a:rPr sz="1400" dirty="0">
                <a:solidFill>
                  <a:srgbClr val="5A6478"/>
                </a:solidFill>
              </a:rPr>
              <a:t>Step-by-step: new user signing up</a:t>
            </a:r>
          </a:p>
        </p:txBody>
      </p:sp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67512"/>
            <a:ext cx="10761132" cy="64190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07ECCD2-D66B-DAFC-3A6B-7A87C9BCDD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5733" y="950705"/>
            <a:ext cx="3716867" cy="17536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45720"/>
            <a:ext cx="117348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kern="0" spc="600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Diagram — Add Expense</a:t>
            </a:r>
          </a:p>
          <a:p>
            <a:r>
              <a:rPr sz="1400" dirty="0">
                <a:solidFill>
                  <a:srgbClr val="5A6478"/>
                </a:solidFill>
              </a:rPr>
              <a:t>From tapping Add Expense to database commit</a:t>
            </a:r>
          </a:p>
        </p:txBody>
      </p:sp>
      <p:pic>
        <p:nvPicPr>
          <p:cNvPr id="3" name="Picture 2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67512"/>
            <a:ext cx="11006667" cy="61904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14295B0-31A7-3572-F54A-A89808F1A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3067" y="909325"/>
            <a:ext cx="4500033" cy="14392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45720"/>
            <a:ext cx="117348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kern="0" spc="600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Diagram — Record Settlement</a:t>
            </a:r>
          </a:p>
          <a:p>
            <a:r>
              <a:rPr sz="1400" dirty="0">
                <a:solidFill>
                  <a:srgbClr val="5A6478"/>
                </a:solidFill>
              </a:rPr>
              <a:t>How a payment between two users is recorded</a:t>
            </a:r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66" y="667512"/>
            <a:ext cx="11142133" cy="614476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INVENTORY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Eight core screens — Login flow built, more in progress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2697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E"/>
            </a:solidFill>
            <a:prstDash val="solid"/>
          </a:ln>
          <a:effectLst>
            <a:outerShdw blurRad="177800" dist="50800" dir="5400000" algn="bl" rotWithShape="0">
              <a:srgbClr val="0F264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691640"/>
            <a:ext cx="2697480" cy="64008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82880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1911096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560320" y="18013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31520" y="24688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Splash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31520" y="29260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logo intro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31520" y="347472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9AA3B5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34747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364992" y="1691640"/>
            <a:ext cx="2697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E"/>
            </a:solidFill>
            <a:prstDash val="solid"/>
          </a:ln>
          <a:effectLst>
            <a:outerShdw blurRad="177800" dist="50800" dir="5400000" algn="bl" rotWithShape="0">
              <a:srgbClr val="0F264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364992" y="1691640"/>
            <a:ext cx="2697480" cy="640080"/>
          </a:xfrm>
          <a:prstGeom prst="rect">
            <a:avLst/>
          </a:prstGeom>
          <a:solidFill>
            <a:srgbClr val="DC143C"/>
          </a:solidFill>
          <a:ln/>
        </p:spPr>
      </p:sp>
      <p:sp>
        <p:nvSpPr>
          <p:cNvPr id="15" name="Shape 12"/>
          <p:cNvSpPr/>
          <p:nvPr/>
        </p:nvSpPr>
        <p:spPr>
          <a:xfrm>
            <a:off x="3639312" y="182880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1608" y="1911096"/>
            <a:ext cx="201168" cy="20116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422392" y="18013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3593592" y="24688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3593592" y="29260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Email/password + biometric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3593592" y="347472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27AE60"/>
          </a:solidFill>
          <a:ln/>
        </p:spPr>
      </p:sp>
      <p:sp>
        <p:nvSpPr>
          <p:cNvPr id="21" name="Text 17"/>
          <p:cNvSpPr/>
          <p:nvPr/>
        </p:nvSpPr>
        <p:spPr>
          <a:xfrm>
            <a:off x="3593592" y="34747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6227064" y="1691640"/>
            <a:ext cx="2697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E"/>
            </a:solidFill>
            <a:prstDash val="solid"/>
          </a:ln>
          <a:effectLst>
            <a:outerShdw blurRad="177800" dist="50800" dir="5400000" algn="bl" rotWithShape="0">
              <a:srgbClr val="0F2640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227064" y="1691640"/>
            <a:ext cx="2697480" cy="640080"/>
          </a:xfrm>
          <a:prstGeom prst="rect">
            <a:avLst/>
          </a:prstGeom>
          <a:solidFill>
            <a:srgbClr val="DC143C"/>
          </a:solidFill>
          <a:ln/>
        </p:spPr>
      </p:sp>
      <p:sp>
        <p:nvSpPr>
          <p:cNvPr id="24" name="Shape 20"/>
          <p:cNvSpPr/>
          <p:nvPr/>
        </p:nvSpPr>
        <p:spPr>
          <a:xfrm>
            <a:off x="6501384" y="182880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1911096"/>
            <a:ext cx="201168" cy="20116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284464" y="18013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7" name="Text 22"/>
          <p:cNvSpPr/>
          <p:nvPr/>
        </p:nvSpPr>
        <p:spPr>
          <a:xfrm>
            <a:off x="6455664" y="24688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6455664" y="29260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email, password strength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6455664" y="347472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27AE60"/>
          </a:solidFill>
          <a:ln/>
        </p:spPr>
      </p:sp>
      <p:sp>
        <p:nvSpPr>
          <p:cNvPr id="30" name="Text 25"/>
          <p:cNvSpPr/>
          <p:nvPr/>
        </p:nvSpPr>
        <p:spPr>
          <a:xfrm>
            <a:off x="6455664" y="34747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9089136" y="1691640"/>
            <a:ext cx="2697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E"/>
            </a:solidFill>
            <a:prstDash val="solid"/>
          </a:ln>
          <a:effectLst>
            <a:outerShdw blurRad="177800" dist="50800" dir="5400000" algn="bl" rotWithShape="0">
              <a:srgbClr val="0F2640">
                <a:alpha val="10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9089136" y="1691640"/>
            <a:ext cx="2697480" cy="640080"/>
          </a:xfrm>
          <a:prstGeom prst="rect">
            <a:avLst/>
          </a:prstGeom>
          <a:solidFill>
            <a:srgbClr val="DC143C"/>
          </a:solidFill>
          <a:ln/>
        </p:spPr>
      </p:sp>
      <p:sp>
        <p:nvSpPr>
          <p:cNvPr id="33" name="Shape 28"/>
          <p:cNvSpPr/>
          <p:nvPr/>
        </p:nvSpPr>
        <p:spPr>
          <a:xfrm>
            <a:off x="9363456" y="182880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45752" y="1911096"/>
            <a:ext cx="201168" cy="201168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11146536" y="18013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36" name="Text 30"/>
          <p:cNvSpPr/>
          <p:nvPr/>
        </p:nvSpPr>
        <p:spPr>
          <a:xfrm>
            <a:off x="9317736" y="24688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 Pw</a:t>
            </a:r>
            <a:endParaRPr lang="en-US" sz="1600" dirty="0"/>
          </a:p>
        </p:txBody>
      </p:sp>
      <p:sp>
        <p:nvSpPr>
          <p:cNvPr id="37" name="Text 31"/>
          <p:cNvSpPr/>
          <p:nvPr/>
        </p:nvSpPr>
        <p:spPr>
          <a:xfrm>
            <a:off x="9317736" y="29260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link request + success</a:t>
            </a:r>
            <a:endParaRPr lang="en-US" sz="1100" dirty="0"/>
          </a:p>
        </p:txBody>
      </p:sp>
      <p:sp>
        <p:nvSpPr>
          <p:cNvPr id="38" name="Shape 32"/>
          <p:cNvSpPr/>
          <p:nvPr/>
        </p:nvSpPr>
        <p:spPr>
          <a:xfrm>
            <a:off x="9317736" y="347472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27AE60"/>
          </a:solidFill>
          <a:ln/>
        </p:spPr>
      </p:sp>
      <p:sp>
        <p:nvSpPr>
          <p:cNvPr id="39" name="Text 33"/>
          <p:cNvSpPr/>
          <p:nvPr/>
        </p:nvSpPr>
        <p:spPr>
          <a:xfrm>
            <a:off x="9317736" y="34747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850" dirty="0"/>
          </a:p>
        </p:txBody>
      </p:sp>
      <p:sp>
        <p:nvSpPr>
          <p:cNvPr id="40" name="Shape 34"/>
          <p:cNvSpPr/>
          <p:nvPr/>
        </p:nvSpPr>
        <p:spPr>
          <a:xfrm>
            <a:off x="502920" y="4206240"/>
            <a:ext cx="2697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E"/>
            </a:solidFill>
            <a:prstDash val="solid"/>
          </a:ln>
          <a:effectLst>
            <a:outerShdw blurRad="177800" dist="50800" dir="5400000" algn="bl" rotWithShape="0">
              <a:srgbClr val="0F2640">
                <a:alpha val="10000"/>
              </a:srgbClr>
            </a:outerShdw>
          </a:effectLst>
        </p:spPr>
      </p:sp>
      <p:sp>
        <p:nvSpPr>
          <p:cNvPr id="41" name="Shape 35"/>
          <p:cNvSpPr/>
          <p:nvPr/>
        </p:nvSpPr>
        <p:spPr>
          <a:xfrm>
            <a:off x="502920" y="4206240"/>
            <a:ext cx="2697480" cy="64008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42" name="Shape 36"/>
          <p:cNvSpPr/>
          <p:nvPr/>
        </p:nvSpPr>
        <p:spPr>
          <a:xfrm>
            <a:off x="777240" y="434340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536" y="4425696"/>
            <a:ext cx="201168" cy="201168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2560320" y="43159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45" name="Text 38"/>
          <p:cNvSpPr/>
          <p:nvPr/>
        </p:nvSpPr>
        <p:spPr>
          <a:xfrm>
            <a:off x="731520" y="49834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600" dirty="0"/>
          </a:p>
        </p:txBody>
      </p:sp>
      <p:sp>
        <p:nvSpPr>
          <p:cNvPr id="46" name="Text 39"/>
          <p:cNvSpPr/>
          <p:nvPr/>
        </p:nvSpPr>
        <p:spPr>
          <a:xfrm>
            <a:off x="731520" y="54406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+ overall balance</a:t>
            </a:r>
            <a:endParaRPr lang="en-US" sz="1100" dirty="0"/>
          </a:p>
        </p:txBody>
      </p:sp>
      <p:sp>
        <p:nvSpPr>
          <p:cNvPr id="47" name="Shape 40"/>
          <p:cNvSpPr/>
          <p:nvPr/>
        </p:nvSpPr>
        <p:spPr>
          <a:xfrm>
            <a:off x="731520" y="598932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39C12"/>
          </a:solidFill>
          <a:ln/>
        </p:spPr>
      </p:sp>
      <p:sp>
        <p:nvSpPr>
          <p:cNvPr id="48" name="Text 41"/>
          <p:cNvSpPr/>
          <p:nvPr/>
        </p:nvSpPr>
        <p:spPr>
          <a:xfrm>
            <a:off x="731520" y="59893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850" dirty="0"/>
          </a:p>
        </p:txBody>
      </p:sp>
      <p:sp>
        <p:nvSpPr>
          <p:cNvPr id="49" name="Shape 42"/>
          <p:cNvSpPr/>
          <p:nvPr/>
        </p:nvSpPr>
        <p:spPr>
          <a:xfrm>
            <a:off x="3364992" y="4206240"/>
            <a:ext cx="2697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E"/>
            </a:solidFill>
            <a:prstDash val="solid"/>
          </a:ln>
          <a:effectLst>
            <a:outerShdw blurRad="177800" dist="50800" dir="5400000" algn="bl" rotWithShape="0">
              <a:srgbClr val="0F2640">
                <a:alpha val="10000"/>
              </a:srgbClr>
            </a:outerShdw>
          </a:effectLst>
        </p:spPr>
      </p:sp>
      <p:sp>
        <p:nvSpPr>
          <p:cNvPr id="50" name="Shape 43"/>
          <p:cNvSpPr/>
          <p:nvPr/>
        </p:nvSpPr>
        <p:spPr>
          <a:xfrm>
            <a:off x="3364992" y="4206240"/>
            <a:ext cx="2697480" cy="64008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51" name="Shape 44"/>
          <p:cNvSpPr/>
          <p:nvPr/>
        </p:nvSpPr>
        <p:spPr>
          <a:xfrm>
            <a:off x="3639312" y="434340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2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1608" y="4425696"/>
            <a:ext cx="201168" cy="201168"/>
          </a:xfrm>
          <a:prstGeom prst="rect">
            <a:avLst/>
          </a:prstGeom>
        </p:spPr>
      </p:pic>
      <p:sp>
        <p:nvSpPr>
          <p:cNvPr id="53" name="Text 45"/>
          <p:cNvSpPr/>
          <p:nvPr/>
        </p:nvSpPr>
        <p:spPr>
          <a:xfrm>
            <a:off x="5422392" y="43159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54" name="Text 46"/>
          <p:cNvSpPr/>
          <p:nvPr/>
        </p:nvSpPr>
        <p:spPr>
          <a:xfrm>
            <a:off x="3593592" y="49834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Detail</a:t>
            </a:r>
            <a:endParaRPr lang="en-US" sz="1600" dirty="0"/>
          </a:p>
        </p:txBody>
      </p:sp>
      <p:sp>
        <p:nvSpPr>
          <p:cNvPr id="55" name="Text 47"/>
          <p:cNvSpPr/>
          <p:nvPr/>
        </p:nvSpPr>
        <p:spPr>
          <a:xfrm>
            <a:off x="3593592" y="54406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+ expense list</a:t>
            </a:r>
            <a:endParaRPr lang="en-US" sz="1100" dirty="0"/>
          </a:p>
        </p:txBody>
      </p:sp>
      <p:sp>
        <p:nvSpPr>
          <p:cNvPr id="56" name="Shape 48"/>
          <p:cNvSpPr/>
          <p:nvPr/>
        </p:nvSpPr>
        <p:spPr>
          <a:xfrm>
            <a:off x="3593592" y="598932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39C12"/>
          </a:solidFill>
          <a:ln/>
        </p:spPr>
      </p:sp>
      <p:sp>
        <p:nvSpPr>
          <p:cNvPr id="57" name="Text 49"/>
          <p:cNvSpPr/>
          <p:nvPr/>
        </p:nvSpPr>
        <p:spPr>
          <a:xfrm>
            <a:off x="3593592" y="59893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850" dirty="0"/>
          </a:p>
        </p:txBody>
      </p:sp>
      <p:sp>
        <p:nvSpPr>
          <p:cNvPr id="58" name="Shape 50"/>
          <p:cNvSpPr/>
          <p:nvPr/>
        </p:nvSpPr>
        <p:spPr>
          <a:xfrm>
            <a:off x="6227064" y="4206240"/>
            <a:ext cx="2697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E"/>
            </a:solidFill>
            <a:prstDash val="solid"/>
          </a:ln>
          <a:effectLst>
            <a:outerShdw blurRad="177800" dist="50800" dir="5400000" algn="bl" rotWithShape="0">
              <a:srgbClr val="0F2640">
                <a:alpha val="10000"/>
              </a:srgbClr>
            </a:outerShdw>
          </a:effectLst>
        </p:spPr>
      </p:sp>
      <p:sp>
        <p:nvSpPr>
          <p:cNvPr id="59" name="Shape 51"/>
          <p:cNvSpPr/>
          <p:nvPr/>
        </p:nvSpPr>
        <p:spPr>
          <a:xfrm>
            <a:off x="6227064" y="4206240"/>
            <a:ext cx="2697480" cy="64008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60" name="Shape 52"/>
          <p:cNvSpPr/>
          <p:nvPr/>
        </p:nvSpPr>
        <p:spPr>
          <a:xfrm>
            <a:off x="6501384" y="434340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1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0" y="4425696"/>
            <a:ext cx="201168" cy="201168"/>
          </a:xfrm>
          <a:prstGeom prst="rect">
            <a:avLst/>
          </a:prstGeom>
        </p:spPr>
      </p:pic>
      <p:sp>
        <p:nvSpPr>
          <p:cNvPr id="62" name="Text 53"/>
          <p:cNvSpPr/>
          <p:nvPr/>
        </p:nvSpPr>
        <p:spPr>
          <a:xfrm>
            <a:off x="8284464" y="43159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200" dirty="0"/>
          </a:p>
        </p:txBody>
      </p:sp>
      <p:sp>
        <p:nvSpPr>
          <p:cNvPr id="63" name="Text 54"/>
          <p:cNvSpPr/>
          <p:nvPr/>
        </p:nvSpPr>
        <p:spPr>
          <a:xfrm>
            <a:off x="6455664" y="49834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Expense</a:t>
            </a:r>
            <a:endParaRPr lang="en-US" sz="1600" dirty="0"/>
          </a:p>
        </p:txBody>
      </p:sp>
      <p:sp>
        <p:nvSpPr>
          <p:cNvPr id="64" name="Text 55"/>
          <p:cNvSpPr/>
          <p:nvPr/>
        </p:nvSpPr>
        <p:spPr>
          <a:xfrm>
            <a:off x="6455664" y="54406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methods + receipt</a:t>
            </a:r>
            <a:endParaRPr lang="en-US" sz="1100" dirty="0"/>
          </a:p>
        </p:txBody>
      </p:sp>
      <p:sp>
        <p:nvSpPr>
          <p:cNvPr id="65" name="Shape 56"/>
          <p:cNvSpPr/>
          <p:nvPr/>
        </p:nvSpPr>
        <p:spPr>
          <a:xfrm>
            <a:off x="6455664" y="598932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39C12"/>
          </a:solidFill>
          <a:ln/>
        </p:spPr>
      </p:sp>
      <p:sp>
        <p:nvSpPr>
          <p:cNvPr id="66" name="Text 57"/>
          <p:cNvSpPr/>
          <p:nvPr/>
        </p:nvSpPr>
        <p:spPr>
          <a:xfrm>
            <a:off x="6455664" y="59893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850" dirty="0"/>
          </a:p>
        </p:txBody>
      </p:sp>
      <p:sp>
        <p:nvSpPr>
          <p:cNvPr id="67" name="Shape 58"/>
          <p:cNvSpPr/>
          <p:nvPr/>
        </p:nvSpPr>
        <p:spPr>
          <a:xfrm>
            <a:off x="9089136" y="4206240"/>
            <a:ext cx="2697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E"/>
            </a:solidFill>
            <a:prstDash val="solid"/>
          </a:ln>
          <a:effectLst>
            <a:outerShdw blurRad="177800" dist="50800" dir="5400000" algn="bl" rotWithShape="0">
              <a:srgbClr val="0F2640">
                <a:alpha val="10000"/>
              </a:srgbClr>
            </a:outerShdw>
          </a:effectLst>
        </p:spPr>
      </p:sp>
      <p:sp>
        <p:nvSpPr>
          <p:cNvPr id="68" name="Shape 59"/>
          <p:cNvSpPr/>
          <p:nvPr/>
        </p:nvSpPr>
        <p:spPr>
          <a:xfrm>
            <a:off x="9089136" y="4206240"/>
            <a:ext cx="2697480" cy="640080"/>
          </a:xfrm>
          <a:prstGeom prst="rect">
            <a:avLst/>
          </a:prstGeom>
          <a:solidFill>
            <a:srgbClr val="0F1F4A"/>
          </a:solidFill>
          <a:ln/>
        </p:spPr>
      </p:sp>
      <p:sp>
        <p:nvSpPr>
          <p:cNvPr id="69" name="Shape 60"/>
          <p:cNvSpPr/>
          <p:nvPr/>
        </p:nvSpPr>
        <p:spPr>
          <a:xfrm>
            <a:off x="9363456" y="434340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0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45752" y="4425696"/>
            <a:ext cx="201168" cy="201168"/>
          </a:xfrm>
          <a:prstGeom prst="rect">
            <a:avLst/>
          </a:prstGeom>
        </p:spPr>
      </p:pic>
      <p:sp>
        <p:nvSpPr>
          <p:cNvPr id="71" name="Text 61"/>
          <p:cNvSpPr/>
          <p:nvPr/>
        </p:nvSpPr>
        <p:spPr>
          <a:xfrm>
            <a:off x="11146536" y="43159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200" dirty="0"/>
          </a:p>
        </p:txBody>
      </p:sp>
      <p:sp>
        <p:nvSpPr>
          <p:cNvPr id="72" name="Text 62"/>
          <p:cNvSpPr/>
          <p:nvPr/>
        </p:nvSpPr>
        <p:spPr>
          <a:xfrm>
            <a:off x="9317736" y="49834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 Up</a:t>
            </a:r>
            <a:endParaRPr lang="en-US" sz="1600" dirty="0"/>
          </a:p>
        </p:txBody>
      </p:sp>
      <p:sp>
        <p:nvSpPr>
          <p:cNvPr id="73" name="Text 63"/>
          <p:cNvSpPr/>
          <p:nvPr/>
        </p:nvSpPr>
        <p:spPr>
          <a:xfrm>
            <a:off x="9317736" y="54406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external payment</a:t>
            </a:r>
            <a:endParaRPr lang="en-US" sz="1100" dirty="0"/>
          </a:p>
        </p:txBody>
      </p:sp>
      <p:sp>
        <p:nvSpPr>
          <p:cNvPr id="74" name="Shape 64"/>
          <p:cNvSpPr/>
          <p:nvPr/>
        </p:nvSpPr>
        <p:spPr>
          <a:xfrm>
            <a:off x="9317736" y="598932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9AA3B5"/>
          </a:solidFill>
          <a:ln/>
        </p:spPr>
      </p:sp>
      <p:sp>
        <p:nvSpPr>
          <p:cNvPr id="75" name="Text 65"/>
          <p:cNvSpPr/>
          <p:nvPr/>
        </p:nvSpPr>
        <p:spPr>
          <a:xfrm>
            <a:off x="9317736" y="59893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Builds, Each Shippable On Its Own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Sommerville's Incremental Model. Each increment is a working app with more features than the last.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70332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E"/>
            </a:solidFill>
            <a:prstDash val="solid"/>
          </a:ln>
          <a:effectLst>
            <a:outerShdw blurRad="177800" dist="50800" dir="5400000" algn="bl" rotWithShape="0">
              <a:srgbClr val="0F264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920240"/>
            <a:ext cx="3703320" cy="1188720"/>
          </a:xfrm>
          <a:prstGeom prst="rect">
            <a:avLst/>
          </a:prstGeom>
          <a:solidFill>
            <a:srgbClr val="DC143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1168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219456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94560" y="2377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Must Have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2194560" y="2788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7–9</a:t>
            </a:r>
            <a:endParaRPr lang="en-US" sz="10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383280"/>
            <a:ext cx="228600" cy="2286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43000" y="33375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F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 &amp; login</a:t>
            </a:r>
            <a:endParaRPr lang="en-US" sz="12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977640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43000" y="39319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F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creation &amp; invitations</a:t>
            </a:r>
            <a:endParaRPr lang="en-US" sz="12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57200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43000" y="45262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F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expense with equal splitting</a:t>
            </a:r>
            <a:endParaRPr lang="en-US" sz="12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16636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43000" y="5120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F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balance display</a:t>
            </a:r>
            <a:endParaRPr lang="en-US" sz="12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760720"/>
            <a:ext cx="228600" cy="2286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143000" y="57150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F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external settlements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4352544" y="1920240"/>
            <a:ext cx="370332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E"/>
            </a:solidFill>
            <a:prstDash val="solid"/>
          </a:ln>
          <a:effectLst>
            <a:outerShdw blurRad="177800" dist="50800" dir="5400000" algn="bl" rotWithShape="0">
              <a:srgbClr val="0F2640">
                <a:alpha val="10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4352544" y="1920240"/>
            <a:ext cx="3703320" cy="118872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23" name="Text 16"/>
          <p:cNvSpPr/>
          <p:nvPr/>
        </p:nvSpPr>
        <p:spPr>
          <a:xfrm>
            <a:off x="4626864" y="201168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600" dirty="0"/>
          </a:p>
        </p:txBody>
      </p:sp>
      <p:sp>
        <p:nvSpPr>
          <p:cNvPr id="24" name="Text 17"/>
          <p:cNvSpPr/>
          <p:nvPr/>
        </p:nvSpPr>
        <p:spPr>
          <a:xfrm>
            <a:off x="6044184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6044184" y="2377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Should Have</a:t>
            </a:r>
            <a:endParaRPr lang="en-US" sz="1900" dirty="0"/>
          </a:p>
        </p:txBody>
      </p:sp>
      <p:sp>
        <p:nvSpPr>
          <p:cNvPr id="26" name="Text 19"/>
          <p:cNvSpPr/>
          <p:nvPr/>
        </p:nvSpPr>
        <p:spPr>
          <a:xfrm>
            <a:off x="6044184" y="2788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9–11</a:t>
            </a:r>
            <a:endParaRPr lang="en-US" sz="10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2584" y="3383280"/>
            <a:ext cx="228600" cy="22860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992624" y="33375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F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Unequal splitting (exact, %, shares)</a:t>
            </a:r>
            <a:endParaRPr lang="en-US" sz="120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2584" y="3977640"/>
            <a:ext cx="228600" cy="22860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992624" y="39319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F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(FCM)</a:t>
            </a:r>
            <a:endParaRPr lang="en-US" sz="1200" dirty="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2584" y="4572000"/>
            <a:ext cx="228600" cy="22860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4992624" y="45262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F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reminders</a:t>
            </a:r>
            <a:endParaRPr lang="en-US" sz="120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2584" y="5166360"/>
            <a:ext cx="228600" cy="228600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4992624" y="5120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F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Multi-currency support</a:t>
            </a:r>
            <a:endParaRPr lang="en-US" sz="1200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2584" y="5760720"/>
            <a:ext cx="228600" cy="228600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4992624" y="57150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F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analytics dashboard</a:t>
            </a:r>
            <a:endParaRPr lang="en-US" sz="1200" dirty="0"/>
          </a:p>
        </p:txBody>
      </p:sp>
      <p:sp>
        <p:nvSpPr>
          <p:cNvPr id="37" name="Shape 25"/>
          <p:cNvSpPr/>
          <p:nvPr/>
        </p:nvSpPr>
        <p:spPr>
          <a:xfrm>
            <a:off x="8202168" y="1920240"/>
            <a:ext cx="370332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E"/>
            </a:solidFill>
            <a:prstDash val="solid"/>
          </a:ln>
          <a:effectLst>
            <a:outerShdw blurRad="177800" dist="50800" dir="5400000" algn="bl" rotWithShape="0">
              <a:srgbClr val="0F2640">
                <a:alpha val="10000"/>
              </a:srgbClr>
            </a:outerShdw>
          </a:effectLst>
        </p:spPr>
      </p:sp>
      <p:sp>
        <p:nvSpPr>
          <p:cNvPr id="38" name="Shape 26"/>
          <p:cNvSpPr/>
          <p:nvPr/>
        </p:nvSpPr>
        <p:spPr>
          <a:xfrm>
            <a:off x="8202168" y="1920240"/>
            <a:ext cx="3703320" cy="1188720"/>
          </a:xfrm>
          <a:prstGeom prst="rect">
            <a:avLst/>
          </a:prstGeom>
          <a:solidFill>
            <a:srgbClr val="0F1F4A"/>
          </a:solidFill>
          <a:ln/>
        </p:spPr>
      </p:sp>
      <p:sp>
        <p:nvSpPr>
          <p:cNvPr id="39" name="Text 27"/>
          <p:cNvSpPr/>
          <p:nvPr/>
        </p:nvSpPr>
        <p:spPr>
          <a:xfrm>
            <a:off x="8476488" y="201168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5600" dirty="0"/>
          </a:p>
        </p:txBody>
      </p:sp>
      <p:sp>
        <p:nvSpPr>
          <p:cNvPr id="40" name="Text 28"/>
          <p:cNvSpPr/>
          <p:nvPr/>
        </p:nvSpPr>
        <p:spPr>
          <a:xfrm>
            <a:off x="9893808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</a:t>
            </a:r>
            <a:endParaRPr lang="en-US" sz="1000" dirty="0"/>
          </a:p>
        </p:txBody>
      </p:sp>
      <p:sp>
        <p:nvSpPr>
          <p:cNvPr id="41" name="Text 29"/>
          <p:cNvSpPr/>
          <p:nvPr/>
        </p:nvSpPr>
        <p:spPr>
          <a:xfrm>
            <a:off x="9893808" y="2377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Could Have</a:t>
            </a:r>
            <a:endParaRPr lang="en-US" sz="1900" dirty="0"/>
          </a:p>
        </p:txBody>
      </p:sp>
      <p:sp>
        <p:nvSpPr>
          <p:cNvPr id="42" name="Text 30"/>
          <p:cNvSpPr/>
          <p:nvPr/>
        </p:nvSpPr>
        <p:spPr>
          <a:xfrm>
            <a:off x="9893808" y="2788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11–13</a:t>
            </a:r>
            <a:endParaRPr lang="en-US" sz="1000" dirty="0"/>
          </a:p>
        </p:txBody>
      </p:sp>
      <p:pic>
        <p:nvPicPr>
          <p:cNvPr id="43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08" y="3383280"/>
            <a:ext cx="228600" cy="228600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8842248" y="33375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F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OCR (Google ML Kit)</a:t>
            </a:r>
            <a:endParaRPr lang="en-US" sz="1200" dirty="0"/>
          </a:p>
        </p:txBody>
      </p:sp>
      <p:pic>
        <p:nvPicPr>
          <p:cNvPr id="45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08" y="3977640"/>
            <a:ext cx="228600" cy="228600"/>
          </a:xfrm>
          <a:prstGeom prst="rect">
            <a:avLst/>
          </a:prstGeom>
        </p:spPr>
      </p:pic>
      <p:sp>
        <p:nvSpPr>
          <p:cNvPr id="46" name="Text 32"/>
          <p:cNvSpPr/>
          <p:nvPr/>
        </p:nvSpPr>
        <p:spPr>
          <a:xfrm>
            <a:off x="8842248" y="39319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F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pattern analytics</a:t>
            </a:r>
            <a:endParaRPr lang="en-US" sz="1200" dirty="0"/>
          </a:p>
        </p:txBody>
      </p:sp>
      <p:pic>
        <p:nvPicPr>
          <p:cNvPr id="47" name="Image 1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08" y="4572000"/>
            <a:ext cx="228600" cy="228600"/>
          </a:xfrm>
          <a:prstGeom prst="rect">
            <a:avLst/>
          </a:prstGeom>
        </p:spPr>
      </p:pic>
      <p:sp>
        <p:nvSpPr>
          <p:cNvPr id="48" name="Text 33"/>
          <p:cNvSpPr/>
          <p:nvPr/>
        </p:nvSpPr>
        <p:spPr>
          <a:xfrm>
            <a:off x="8842248" y="45262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F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categories &amp; tags</a:t>
            </a:r>
            <a:endParaRPr lang="en-US" sz="1200" dirty="0"/>
          </a:p>
        </p:txBody>
      </p:sp>
      <p:pic>
        <p:nvPicPr>
          <p:cNvPr id="49" name="Image 1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08" y="5166360"/>
            <a:ext cx="228600" cy="228600"/>
          </a:xfrm>
          <a:prstGeom prst="rect">
            <a:avLst/>
          </a:prstGeom>
        </p:spPr>
      </p:pic>
      <p:sp>
        <p:nvSpPr>
          <p:cNvPr id="50" name="Text 34"/>
          <p:cNvSpPr/>
          <p:nvPr/>
        </p:nvSpPr>
        <p:spPr>
          <a:xfrm>
            <a:off x="8842248" y="5120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F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reports (PDF / CSV)</a:t>
            </a:r>
            <a:endParaRPr lang="en-US" sz="1200" dirty="0"/>
          </a:p>
        </p:txBody>
      </p:sp>
      <p:pic>
        <p:nvPicPr>
          <p:cNvPr id="51" name="Image 1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08" y="5760720"/>
            <a:ext cx="228600" cy="228600"/>
          </a:xfrm>
          <a:prstGeom prst="rect">
            <a:avLst/>
          </a:prstGeom>
        </p:spPr>
      </p:pic>
      <p:sp>
        <p:nvSpPr>
          <p:cNvPr id="52" name="Text 35"/>
          <p:cNvSpPr/>
          <p:nvPr/>
        </p:nvSpPr>
        <p:spPr>
          <a:xfrm>
            <a:off x="8842248" y="57150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F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mode polish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F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4114800"/>
            <a:ext cx="4572000" cy="4572000"/>
          </a:xfrm>
          <a:prstGeom prst="ellipse">
            <a:avLst/>
          </a:prstGeom>
          <a:solidFill>
            <a:srgbClr val="DC143C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2286000"/>
            <a:ext cx="4572000" cy="4572000"/>
          </a:xfrm>
          <a:prstGeom prst="ellipse">
            <a:avLst/>
          </a:prstGeom>
          <a:solidFill>
            <a:srgbClr val="2B3F75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11 of 16. Design Document  review.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02920" y="2402846"/>
            <a:ext cx="2743200" cy="21031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494286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0" b="1" i="1" dirty="0">
                <a:solidFill>
                  <a:srgbClr val="DC14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7000" dirty="0"/>
          </a:p>
        </p:txBody>
      </p:sp>
      <p:sp>
        <p:nvSpPr>
          <p:cNvPr id="8" name="Text 6"/>
          <p:cNvSpPr/>
          <p:nvPr/>
        </p:nvSpPr>
        <p:spPr>
          <a:xfrm>
            <a:off x="685800" y="354584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documents finalized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3865886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E1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Interface· Architecture · Database · Physical Design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10712" y="2402846"/>
            <a:ext cx="2743200" cy="21031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10712" y="2494286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0" b="1" i="1" dirty="0">
                <a:solidFill>
                  <a:srgbClr val="DC14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7000" dirty="0"/>
          </a:p>
        </p:txBody>
      </p:sp>
      <p:sp>
        <p:nvSpPr>
          <p:cNvPr id="12" name="Text 10"/>
          <p:cNvSpPr/>
          <p:nvPr/>
        </p:nvSpPr>
        <p:spPr>
          <a:xfrm>
            <a:off x="3593592" y="354584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classes modeled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93592" y="3865886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E1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attributes, operations, and relationships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318504" y="2402846"/>
            <a:ext cx="2743200" cy="21031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18504" y="2494286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0" b="1" i="1" dirty="0">
                <a:solidFill>
                  <a:srgbClr val="DC14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7000" dirty="0"/>
          </a:p>
        </p:txBody>
      </p:sp>
      <p:sp>
        <p:nvSpPr>
          <p:cNvPr id="16" name="Text 14"/>
          <p:cNvSpPr/>
          <p:nvPr/>
        </p:nvSpPr>
        <p:spPr>
          <a:xfrm>
            <a:off x="6501384" y="354584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designed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01384" y="3865886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E1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Signup, Forgot Pw built in React Native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226296" y="2402846"/>
            <a:ext cx="2743200" cy="21031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26296" y="2494286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0" b="1" i="1" dirty="0">
                <a:solidFill>
                  <a:srgbClr val="DC14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7000" dirty="0"/>
          </a:p>
        </p:txBody>
      </p:sp>
      <p:sp>
        <p:nvSpPr>
          <p:cNvPr id="20" name="Text 18"/>
          <p:cNvSpPr/>
          <p:nvPr/>
        </p:nvSpPr>
        <p:spPr>
          <a:xfrm>
            <a:off x="9409176" y="354584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total timeline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409176" y="3865886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E1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incremental builds + final review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77240" y="56235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→ Create Group → Add Expense (equal split) → View Balance → Settle Up. The smallest end-to-end slice that proves the architecture works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Gantt Chart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Model with Agile practices. Midterm review at Week 8.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11247120" cy="365760"/>
          </a:xfrm>
          <a:prstGeom prst="rect">
            <a:avLst/>
          </a:prstGeom>
          <a:solidFill>
            <a:srgbClr val="0F1F4A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920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/ TASK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606040" y="1920240"/>
            <a:ext cx="571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177540" y="1920240"/>
            <a:ext cx="571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749040" y="1920240"/>
            <a:ext cx="571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320540" y="1920240"/>
            <a:ext cx="571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892040" y="1920240"/>
            <a:ext cx="571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463540" y="1920240"/>
            <a:ext cx="571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035040" y="1920240"/>
            <a:ext cx="571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606540" y="1920240"/>
            <a:ext cx="571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178040" y="1920240"/>
            <a:ext cx="571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749540" y="1920240"/>
            <a:ext cx="571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321040" y="1920240"/>
            <a:ext cx="571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W11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892540" y="1920240"/>
            <a:ext cx="571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9464040" y="1920240"/>
            <a:ext cx="571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035540" y="1920240"/>
            <a:ext cx="571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607040" y="1920240"/>
            <a:ext cx="571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178540" y="1920240"/>
            <a:ext cx="571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W16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02920" y="2331720"/>
            <a:ext cx="11247120" cy="384048"/>
          </a:xfrm>
          <a:prstGeom prst="rect">
            <a:avLst/>
          </a:prstGeom>
          <a:solidFill>
            <a:srgbClr val="F7F8FB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23317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r>
              <a:rPr lang="en-US" sz="1000" dirty="0">
                <a:solidFill>
                  <a:srgbClr val="0F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Project Charter &amp; Scope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2642616" y="2404872"/>
            <a:ext cx="498349" cy="237744"/>
          </a:xfrm>
          <a:prstGeom prst="roundRect">
            <a:avLst>
              <a:gd name="adj" fmla="val 23077"/>
            </a:avLst>
          </a:prstGeom>
          <a:solidFill>
            <a:srgbClr val="1A2B5F"/>
          </a:solidFill>
          <a:ln/>
        </p:spPr>
      </p:sp>
      <p:sp>
        <p:nvSpPr>
          <p:cNvPr id="26" name="Shape 24"/>
          <p:cNvSpPr/>
          <p:nvPr/>
        </p:nvSpPr>
        <p:spPr>
          <a:xfrm>
            <a:off x="502920" y="2715768"/>
            <a:ext cx="112471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271576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r>
              <a:rPr lang="en-US" sz="1000" dirty="0">
                <a:solidFill>
                  <a:srgbClr val="0F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Requirements (SRS)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3214115" y="2715768"/>
            <a:ext cx="4262449" cy="347472"/>
          </a:xfrm>
          <a:prstGeom prst="roundRect">
            <a:avLst>
              <a:gd name="adj" fmla="val 23077"/>
            </a:avLst>
          </a:prstGeom>
          <a:solidFill>
            <a:srgbClr val="2B3F75"/>
          </a:solidFill>
          <a:ln/>
        </p:spPr>
      </p:sp>
      <p:sp>
        <p:nvSpPr>
          <p:cNvPr id="29" name="Shape 27"/>
          <p:cNvSpPr/>
          <p:nvPr/>
        </p:nvSpPr>
        <p:spPr>
          <a:xfrm>
            <a:off x="502920" y="3099816"/>
            <a:ext cx="11247120" cy="384048"/>
          </a:xfrm>
          <a:prstGeom prst="rect">
            <a:avLst/>
          </a:prstGeom>
          <a:solidFill>
            <a:srgbClr val="F7F8FB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309981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r>
              <a:rPr lang="en-US" sz="1000" dirty="0">
                <a:solidFill>
                  <a:srgbClr val="0F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Use Cases &amp; Class Diagram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3247263" y="3082962"/>
            <a:ext cx="3143250" cy="384048"/>
          </a:xfrm>
          <a:prstGeom prst="roundRect">
            <a:avLst>
              <a:gd name="adj" fmla="val 23077"/>
            </a:avLst>
          </a:prstGeom>
          <a:solidFill>
            <a:srgbClr val="2B3F75"/>
          </a:solidFill>
          <a:ln/>
        </p:spPr>
      </p:sp>
      <p:sp>
        <p:nvSpPr>
          <p:cNvPr id="32" name="Shape 30"/>
          <p:cNvSpPr/>
          <p:nvPr/>
        </p:nvSpPr>
        <p:spPr>
          <a:xfrm>
            <a:off x="502920" y="3483864"/>
            <a:ext cx="112471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594360" y="348386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r>
              <a:rPr lang="en-US" sz="1000" dirty="0">
                <a:solidFill>
                  <a:srgbClr val="0F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Architecture &amp; Database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6254496" y="3467010"/>
            <a:ext cx="1222068" cy="347472"/>
          </a:xfrm>
          <a:prstGeom prst="roundRect">
            <a:avLst>
              <a:gd name="adj" fmla="val 23077"/>
            </a:avLst>
          </a:prstGeom>
          <a:solidFill>
            <a:srgbClr val="DC143C"/>
          </a:solidFill>
          <a:ln/>
        </p:spPr>
      </p:sp>
      <p:sp>
        <p:nvSpPr>
          <p:cNvPr id="35" name="Shape 33"/>
          <p:cNvSpPr/>
          <p:nvPr/>
        </p:nvSpPr>
        <p:spPr>
          <a:xfrm>
            <a:off x="502920" y="3867912"/>
            <a:ext cx="11247120" cy="384048"/>
          </a:xfrm>
          <a:prstGeom prst="rect">
            <a:avLst/>
          </a:prstGeom>
          <a:solidFill>
            <a:srgbClr val="F7F8FB"/>
          </a:solidFill>
          <a:ln/>
        </p:spPr>
      </p:sp>
      <p:sp>
        <p:nvSpPr>
          <p:cNvPr id="36" name="Text 34"/>
          <p:cNvSpPr/>
          <p:nvPr/>
        </p:nvSpPr>
        <p:spPr>
          <a:xfrm>
            <a:off x="594360" y="386791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r>
              <a:rPr lang="en-US" sz="1000" dirty="0">
                <a:solidFill>
                  <a:srgbClr val="0F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Interface Mockups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4928616" y="3941064"/>
            <a:ext cx="1641348" cy="237744"/>
          </a:xfrm>
          <a:prstGeom prst="roundRect">
            <a:avLst>
              <a:gd name="adj" fmla="val 23077"/>
            </a:avLst>
          </a:prstGeom>
          <a:solidFill>
            <a:srgbClr val="DC143C"/>
          </a:solidFill>
          <a:ln/>
        </p:spPr>
      </p:sp>
      <p:sp>
        <p:nvSpPr>
          <p:cNvPr id="38" name="Shape 36"/>
          <p:cNvSpPr/>
          <p:nvPr/>
        </p:nvSpPr>
        <p:spPr>
          <a:xfrm>
            <a:off x="450029" y="4233672"/>
            <a:ext cx="1124712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94360" y="42519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</a:t>
            </a:r>
            <a:r>
              <a:rPr lang="en-US" sz="1000" dirty="0">
                <a:solidFill>
                  <a:srgbClr val="0F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MIDTERM REVIEW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8469630" y="4297860"/>
            <a:ext cx="274320" cy="237744"/>
          </a:xfrm>
          <a:prstGeom prst="ellipse">
            <a:avLst/>
          </a:prstGeom>
          <a:solidFill>
            <a:srgbClr val="A0103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09410" y="432511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02920" y="4636008"/>
            <a:ext cx="11247120" cy="384048"/>
          </a:xfrm>
          <a:prstGeom prst="rect">
            <a:avLst/>
          </a:prstGeom>
          <a:solidFill>
            <a:srgbClr val="F7F8FB"/>
          </a:solidFill>
          <a:ln/>
        </p:spPr>
      </p:sp>
      <p:sp>
        <p:nvSpPr>
          <p:cNvPr id="43" name="Text 41"/>
          <p:cNvSpPr/>
          <p:nvPr/>
        </p:nvSpPr>
        <p:spPr>
          <a:xfrm>
            <a:off x="594360" y="46360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IMPL.</a:t>
            </a:r>
            <a:r>
              <a:rPr lang="en-US" sz="1000" dirty="0">
                <a:solidFill>
                  <a:srgbClr val="0F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Increment 1 (Auth + Groups)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7354062" y="4736592"/>
            <a:ext cx="1641348" cy="237744"/>
          </a:xfrm>
          <a:prstGeom prst="roundRect">
            <a:avLst>
              <a:gd name="adj" fmla="val 23077"/>
            </a:avLst>
          </a:prstGeom>
          <a:solidFill>
            <a:srgbClr val="1A2B5F"/>
          </a:solidFill>
          <a:ln/>
        </p:spPr>
      </p:sp>
      <p:sp>
        <p:nvSpPr>
          <p:cNvPr id="45" name="Shape 43"/>
          <p:cNvSpPr/>
          <p:nvPr/>
        </p:nvSpPr>
        <p:spPr>
          <a:xfrm>
            <a:off x="502920" y="5020056"/>
            <a:ext cx="112471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594360" y="502005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IMPL.</a:t>
            </a:r>
            <a:r>
              <a:rPr lang="en-US" sz="1000" dirty="0">
                <a:solidFill>
                  <a:srgbClr val="0F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Increment 2 (Expenses + Bal.)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7928991" y="5011271"/>
            <a:ext cx="1641348" cy="237744"/>
          </a:xfrm>
          <a:prstGeom prst="roundRect">
            <a:avLst>
              <a:gd name="adj" fmla="val 23077"/>
            </a:avLst>
          </a:prstGeom>
          <a:solidFill>
            <a:srgbClr val="1A2B5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8" name="Shape 46"/>
          <p:cNvSpPr/>
          <p:nvPr/>
        </p:nvSpPr>
        <p:spPr>
          <a:xfrm>
            <a:off x="502920" y="5404104"/>
            <a:ext cx="11247120" cy="384048"/>
          </a:xfrm>
          <a:prstGeom prst="rect">
            <a:avLst/>
          </a:prstGeom>
          <a:solidFill>
            <a:srgbClr val="F7F8FB"/>
          </a:solidFill>
          <a:ln/>
        </p:spPr>
      </p:sp>
      <p:sp>
        <p:nvSpPr>
          <p:cNvPr id="49" name="Text 47"/>
          <p:cNvSpPr/>
          <p:nvPr/>
        </p:nvSpPr>
        <p:spPr>
          <a:xfrm>
            <a:off x="594360" y="540410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IMPL.</a:t>
            </a:r>
            <a:r>
              <a:rPr lang="en-US" sz="1000" dirty="0">
                <a:solidFill>
                  <a:srgbClr val="0F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Increment 3 (OCR + Analytics)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502920" y="5788152"/>
            <a:ext cx="112471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594360" y="578815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r>
              <a:rPr lang="en-US" sz="1000" dirty="0">
                <a:solidFill>
                  <a:srgbClr val="0F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Integration &amp; System Tests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502920" y="6172200"/>
            <a:ext cx="11247120" cy="384048"/>
          </a:xfrm>
          <a:prstGeom prst="rect">
            <a:avLst/>
          </a:prstGeom>
          <a:solidFill>
            <a:srgbClr val="F7F8FB"/>
          </a:solidFill>
          <a:ln/>
        </p:spPr>
      </p:sp>
      <p:sp>
        <p:nvSpPr>
          <p:cNvPr id="55" name="Text 53"/>
          <p:cNvSpPr/>
          <p:nvPr/>
        </p:nvSpPr>
        <p:spPr>
          <a:xfrm>
            <a:off x="594360" y="61722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r>
              <a:rPr lang="en-US" sz="1000" dirty="0">
                <a:solidFill>
                  <a:srgbClr val="0F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Final Presentation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10643616" y="6245352"/>
            <a:ext cx="1069848" cy="237744"/>
          </a:xfrm>
          <a:prstGeom prst="roundRect">
            <a:avLst>
              <a:gd name="adj" fmla="val 23077"/>
            </a:avLst>
          </a:prstGeom>
          <a:solidFill>
            <a:srgbClr val="A01030"/>
          </a:solidFill>
          <a:ln/>
        </p:spPr>
      </p:sp>
      <p:sp>
        <p:nvSpPr>
          <p:cNvPr id="57" name="Shape 55"/>
          <p:cNvSpPr/>
          <p:nvPr/>
        </p:nvSpPr>
        <p:spPr>
          <a:xfrm>
            <a:off x="8606790" y="1947672"/>
            <a:ext cx="0" cy="4636008"/>
          </a:xfrm>
          <a:prstGeom prst="line">
            <a:avLst/>
          </a:prstGeom>
          <a:noFill/>
          <a:ln w="25400">
            <a:solidFill>
              <a:srgbClr val="DC143C"/>
            </a:solidFill>
            <a:prstDash val="dash"/>
          </a:ln>
        </p:spPr>
      </p:sp>
      <p:sp>
        <p:nvSpPr>
          <p:cNvPr id="58" name="Shape 56"/>
          <p:cNvSpPr/>
          <p:nvPr/>
        </p:nvSpPr>
        <p:spPr>
          <a:xfrm>
            <a:off x="8164606" y="1591056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DC143C"/>
          </a:solidFill>
          <a:ln/>
        </p:spPr>
      </p:sp>
      <p:sp>
        <p:nvSpPr>
          <p:cNvPr id="59" name="Text 57"/>
          <p:cNvSpPr/>
          <p:nvPr/>
        </p:nvSpPr>
        <p:spPr>
          <a:xfrm>
            <a:off x="820674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0292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Legend: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1234440" y="6519672"/>
            <a:ext cx="228600" cy="164592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62" name="Text 60"/>
          <p:cNvSpPr/>
          <p:nvPr/>
        </p:nvSpPr>
        <p:spPr>
          <a:xfrm>
            <a:off x="1527048" y="6446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Planning/Analysis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3520440" y="6519672"/>
            <a:ext cx="228600" cy="164592"/>
          </a:xfrm>
          <a:prstGeom prst="rect">
            <a:avLst/>
          </a:prstGeom>
          <a:solidFill>
            <a:srgbClr val="DC143C"/>
          </a:solidFill>
          <a:ln/>
        </p:spPr>
      </p:sp>
      <p:sp>
        <p:nvSpPr>
          <p:cNvPr id="64" name="Text 62"/>
          <p:cNvSpPr/>
          <p:nvPr/>
        </p:nvSpPr>
        <p:spPr>
          <a:xfrm>
            <a:off x="3813048" y="6446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5806440" y="6519672"/>
            <a:ext cx="228600" cy="164592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66" name="Text 64"/>
          <p:cNvSpPr/>
          <p:nvPr/>
        </p:nvSpPr>
        <p:spPr>
          <a:xfrm>
            <a:off x="6099048" y="6446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8092440" y="6519672"/>
            <a:ext cx="228600" cy="164592"/>
          </a:xfrm>
          <a:prstGeom prst="rect">
            <a:avLst/>
          </a:prstGeom>
          <a:solidFill>
            <a:srgbClr val="A01030"/>
          </a:solidFill>
          <a:ln/>
        </p:spPr>
      </p:sp>
      <p:sp>
        <p:nvSpPr>
          <p:cNvPr id="68" name="Text 66"/>
          <p:cNvSpPr/>
          <p:nvPr/>
        </p:nvSpPr>
        <p:spPr>
          <a:xfrm>
            <a:off x="8385048" y="6446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DC143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3200400"/>
            <a:ext cx="6400800" cy="6400800"/>
          </a:xfrm>
          <a:prstGeom prst="ellipse">
            <a:avLst/>
          </a:prstGeom>
          <a:solidFill>
            <a:srgbClr val="0F1F4A">
              <a:alpha val="12000"/>
            </a:srgbClr>
          </a:solidFill>
          <a:ln/>
        </p:spPr>
      </p:sp>
      <p:pic>
        <p:nvPicPr>
          <p:cNvPr id="4" name="Image 0" descr="/home/claude/pres/logo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5697" y="1665336"/>
            <a:ext cx="4068223" cy="22120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5029200"/>
            <a:ext cx="12161520" cy="1828800"/>
          </a:xfrm>
          <a:prstGeom prst="rect">
            <a:avLst/>
          </a:prstGeom>
          <a:solidFill>
            <a:srgbClr val="0F1F4A"/>
          </a:solidFill>
          <a:ln/>
        </p:spPr>
      </p:sp>
      <p:sp>
        <p:nvSpPr>
          <p:cNvPr id="8" name="Text 5"/>
          <p:cNvSpPr/>
          <p:nvPr/>
        </p:nvSpPr>
        <p:spPr>
          <a:xfrm>
            <a:off x="0" y="521208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800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CYBERSQUADNP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0" y="557784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VaagBanda · Smart Mobile Expense-Splitting Application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0" y="5989320"/>
            <a:ext cx="1216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1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Dongshin University · Glocal Autonomous Major College · Supervisor: Prof. Ibrahim Musa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0" y="6400800"/>
            <a:ext cx="1216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800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· SPLIT · SETTLE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2065</Words>
  <Application>Microsoft Office PowerPoint</Application>
  <PresentationFormat>Widescreen</PresentationFormat>
  <Paragraphs>413</Paragraphs>
  <Slides>23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6" baseType="lpstr">
      <vt:lpstr>Arial MT</vt:lpstr>
      <vt:lpstr>Inter</vt:lpstr>
      <vt:lpstr>Arial</vt:lpstr>
      <vt:lpstr>Calibri</vt:lpstr>
      <vt:lpstr>Century Gothic</vt:lpstr>
      <vt:lpstr>Consolas</vt:lpstr>
      <vt:lpstr>Georgia</vt:lpstr>
      <vt:lpstr>Poppins</vt:lpstr>
      <vt:lpstr>Symbol</vt:lpstr>
      <vt:lpstr>Tahoma</vt:lpstr>
      <vt:lpstr>Trebuchet MS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VaagBanda — Midterm Presentation</dc:title>
  <dc:subject>PptxGenJS Presentation</dc:subject>
  <dc:creator>Team CyberSquadNp</dc:creator>
  <cp:lastModifiedBy>Asim Shrestha</cp:lastModifiedBy>
  <cp:revision>4</cp:revision>
  <dcterms:created xsi:type="dcterms:W3CDTF">2026-05-13T09:44:06Z</dcterms:created>
  <dcterms:modified xsi:type="dcterms:W3CDTF">2026-05-17T16:37:17Z</dcterms:modified>
</cp:coreProperties>
</file>